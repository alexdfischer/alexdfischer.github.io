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handoutMasterIdLst>
    <p:handoutMasterId r:id="rId6"/>
  </p:handoutMasterIdLst>
  <p:sldIdLst>
    <p:sldId id="258" r:id="rId5"/>
  </p:sldIdLst>
  <p:sldSz cx="27432000" cy="36576000"/>
  <p:notesSz cx="6858000" cy="9144000"/>
  <p:defaultTextStyle>
    <a:defPPr>
      <a:defRPr lang="en-US"/>
    </a:defPPr>
    <a:lvl1pPr marL="0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1pPr>
    <a:lvl2pPr marL="1536159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2pPr>
    <a:lvl3pPr marL="3072318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3pPr>
    <a:lvl4pPr marL="4608477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4pPr>
    <a:lvl5pPr marL="6144636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5pPr>
    <a:lvl6pPr marL="7680795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6pPr>
    <a:lvl7pPr marL="9216954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7pPr>
    <a:lvl8pPr marL="10753114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8pPr>
    <a:lvl9pPr marL="12289273" algn="l" defTabSz="3072318" rtl="0" eaLnBrk="1" latinLnBrk="0" hangingPunct="1">
      <a:defRPr sz="604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BAAE"/>
    <a:srgbClr val="D1B2D0"/>
    <a:srgbClr val="AED6CE"/>
    <a:srgbClr val="F5D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33"/>
  </p:normalViewPr>
  <p:slideViewPr>
    <p:cSldViewPr snapToGrid="0" snapToObjects="1">
      <p:cViewPr varScale="1">
        <p:scale>
          <a:sx n="30" d="100"/>
          <a:sy n="30" d="100"/>
        </p:scale>
        <p:origin x="37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0" d="100"/>
          <a:sy n="150" d="100"/>
        </p:scale>
        <p:origin x="4232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A8635-719F-B94C-A0BB-D77C10F788F1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ED7F8-C41B-E14C-BE82-FE1DCA5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49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5950" y="4456085"/>
            <a:ext cx="23660100" cy="1414271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63D94D0-4ED7-45A4-8DA3-D1C01D7A40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8780" y="34785658"/>
            <a:ext cx="3111446" cy="197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cap="all" spc="50" baseline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18288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2pPr>
            <a:lvl3pPr marL="36576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3pPr>
            <a:lvl4pPr marL="54864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4pPr>
            <a:lvl5pPr marL="73152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5pPr>
          </a:lstStyle>
          <a:p>
            <a:pPr lvl="0"/>
            <a:r>
              <a:rPr lang="en-US" dirty="0"/>
              <a:t>Click to add SAND XXXX-XXXX P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M Title and 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8C13DD-F6E5-E4CD-67DE-3FFDDFF9A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950" y="4456085"/>
            <a:ext cx="23660100" cy="1414271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C50D7-3A15-4B99-41DA-A3B8FD472B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8780" y="34785658"/>
            <a:ext cx="3111446" cy="197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cap="all" spc="50" baseline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18288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2pPr>
            <a:lvl3pPr marL="36576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3pPr>
            <a:lvl4pPr marL="54864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4pPr>
            <a:lvl5pPr marL="73152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5pPr>
          </a:lstStyle>
          <a:p>
            <a:pPr lvl="0"/>
            <a:r>
              <a:rPr lang="en-US" dirty="0"/>
              <a:t>Click to add SAND XXXX-XXXX P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27432000" cy="36576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476418"/>
            <a:ext cx="27432000" cy="1371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09AD1-C5BF-4E21-8A04-CC701E409848}"/>
              </a:ext>
            </a:extLst>
          </p:cNvPr>
          <p:cNvSpPr txBox="1"/>
          <p:nvPr userDrawn="1"/>
        </p:nvSpPr>
        <p:spPr>
          <a:xfrm>
            <a:off x="5828060" y="34052535"/>
            <a:ext cx="65005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Sandia National Laboratories is a </a:t>
            </a:r>
            <a:r>
              <a:rPr lang="en-US" sz="1100" b="0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multimission</a:t>
            </a:r>
            <a:r>
              <a:rPr lang="en-US" sz="11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laboratory managed and operated by National Technology &amp; Engineering Solutions of Sandia, LLC, a wholly owned subsidiary of Honeywell International Inc., for the U.S. Department of Energy’s National Nuclear Security Administration under contract DE-NA0003525.</a:t>
            </a:r>
          </a:p>
        </p:txBody>
      </p:sp>
    </p:spTree>
    <p:extLst>
      <p:ext uri="{BB962C8B-B14F-4D97-AF65-F5344CB8AC3E}">
        <p14:creationId xmlns:p14="http://schemas.microsoft.com/office/powerpoint/2010/main" val="72461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8000" kern="1200" cap="all" spc="50" baseline="0">
          <a:solidFill>
            <a:schemeClr val="tx2"/>
          </a:solidFill>
          <a:latin typeface="Exo 2" pitchFamily="2" charset="77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08818" y="3818559"/>
            <a:ext cx="19414364" cy="1969006"/>
          </a:xfrm>
        </p:spPr>
        <p:txBody>
          <a:bodyPr>
            <a:normAutofit fontScale="90000"/>
          </a:bodyPr>
          <a:lstStyle/>
          <a:p>
            <a:r>
              <a:rPr lang="en-US" dirty="0"/>
              <a:t>Integrated photonic waveguides on a &gt;99.99% reflectivity dielectric mirror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E5B571B-F0C9-BF5C-9E37-1EBD307371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8780" y="34785658"/>
            <a:ext cx="3111446" cy="197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cap="all" spc="50" baseline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18288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2pPr>
            <a:lvl3pPr marL="36576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3pPr>
            <a:lvl4pPr marL="54864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4pPr>
            <a:lvl5pPr marL="7315200" indent="0">
              <a:buNone/>
              <a:defRPr sz="10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5pPr>
          </a:lstStyle>
          <a:p>
            <a:pPr lvl="0"/>
            <a:r>
              <a:rPr lang="en-US" b="1" dirty="0"/>
              <a:t>SAND2026-21185C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7B486-A777-697F-605D-E1BDC2342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8220" y="33726141"/>
            <a:ext cx="3595659" cy="144873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510F481-2F7D-25C2-4790-5A3E1F044C3C}"/>
              </a:ext>
            </a:extLst>
          </p:cNvPr>
          <p:cNvSpPr txBox="1"/>
          <p:nvPr/>
        </p:nvSpPr>
        <p:spPr>
          <a:xfrm>
            <a:off x="4114800" y="5821125"/>
            <a:ext cx="188722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Alex Fischer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1,2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Kate Musick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William Martinez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Robert Reyna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Travis Young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Tarik Cigeroglu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Peter Rakich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Nils T. Otterstrom</a:t>
            </a:r>
            <a:r>
              <a:rPr lang="en-US" sz="32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  <a:p>
            <a:pPr algn="ctr"/>
            <a:endParaRPr lang="en-US" sz="2400" baseline="30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Sandia National Laboratories, Albuquerque, NM</a:t>
            </a:r>
            <a:endParaRPr lang="en-US" sz="2400" baseline="30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University of New Mexico, Albuquerque, NM</a:t>
            </a:r>
          </a:p>
          <a:p>
            <a:pPr algn="ctr"/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Yale University, New Haven, CT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D5F34254-B9A7-1699-4020-6CC22EFAB563}"/>
              </a:ext>
            </a:extLst>
          </p:cNvPr>
          <p:cNvSpPr/>
          <p:nvPr/>
        </p:nvSpPr>
        <p:spPr>
          <a:xfrm>
            <a:off x="238345" y="8286111"/>
            <a:ext cx="13296801" cy="37534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F6F33616-3E7A-2341-1BE5-08E800642C58}"/>
              </a:ext>
            </a:extLst>
          </p:cNvPr>
          <p:cNvCxnSpPr>
            <a:cxnSpLocks/>
          </p:cNvCxnSpPr>
          <p:nvPr/>
        </p:nvCxnSpPr>
        <p:spPr>
          <a:xfrm>
            <a:off x="13716000" y="9039748"/>
            <a:ext cx="0" cy="2354119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ABF84E0-61FC-27C3-BC32-9A3D5CCFB694}"/>
              </a:ext>
            </a:extLst>
          </p:cNvPr>
          <p:cNvSpPr txBox="1"/>
          <p:nvPr/>
        </p:nvSpPr>
        <p:spPr>
          <a:xfrm>
            <a:off x="343347" y="8254751"/>
            <a:ext cx="1304660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Overview and goal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Want to integrate high-reflectivity microfabricated Fabry-Perot cavities with other integrated photonics for photon storage and other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Switching light into cavities via interference of light weakly scattered out of cavity into waveguide requires ultra low loss waveguides to maintain cavity lifetime.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fabricate dielectric mirrors with ¼ wavelength layers of alternating SiO</a:t>
            </a:r>
            <a:r>
              <a:rPr lang="en-US" sz="2200" baseline="-25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Ta</a:t>
            </a:r>
            <a:r>
              <a:rPr lang="en-US" sz="2200" baseline="-25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US" sz="2200" baseline="-25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1879059" lvl="1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Finesse 180,000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reflectivity 0.999983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fabricate rib waveguides by etching 400 nm into one wavelength thick (753 nm) layer of Ta2O5.</a:t>
            </a:r>
          </a:p>
          <a:p>
            <a:pPr marL="1879059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Loss, measured with ring resonator linewidth, is as low as </a:t>
            </a:r>
            <a:r>
              <a:rPr lang="en-US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0.35 dB/cm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but variable.</a:t>
            </a: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B471C0F-D5B3-D173-FBE1-9A54B7FEA1AD}"/>
              </a:ext>
            </a:extLst>
          </p:cNvPr>
          <p:cNvSpPr/>
          <p:nvPr/>
        </p:nvSpPr>
        <p:spPr>
          <a:xfrm>
            <a:off x="238345" y="12229314"/>
            <a:ext cx="13296801" cy="8976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3A342448-E300-D1D8-8CBF-FCD1465B186D}"/>
              </a:ext>
            </a:extLst>
          </p:cNvPr>
          <p:cNvSpPr txBox="1"/>
          <p:nvPr/>
        </p:nvSpPr>
        <p:spPr>
          <a:xfrm>
            <a:off x="343348" y="12274154"/>
            <a:ext cx="1243155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Mirror and waveguide platform</a:t>
            </a: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Mirrors made in-house with ion beam sputtering.</a:t>
            </a:r>
          </a:p>
          <a:p>
            <a:pPr marL="1879059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made dielectric mirrors with up to 35 layers.</a:t>
            </a:r>
          </a:p>
        </p:txBody>
      </p:sp>
      <p:pic>
        <p:nvPicPr>
          <p:cNvPr id="1069" name="Picture 1068">
            <a:extLst>
              <a:ext uri="{FF2B5EF4-FFF2-40B4-BE49-F238E27FC236}">
                <a16:creationId xmlns:a16="http://schemas.microsoft.com/office/drawing/2014/main" id="{A5CD3FF8-5302-7CB7-7183-654B445864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14157" y="13314185"/>
            <a:ext cx="4580413" cy="7082598"/>
          </a:xfrm>
          <a:prstGeom prst="rect">
            <a:avLst/>
          </a:prstGeom>
        </p:spPr>
      </p:pic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339581C5-8304-95B2-A439-D59E4054B07C}"/>
              </a:ext>
            </a:extLst>
          </p:cNvPr>
          <p:cNvGrpSpPr>
            <a:grpSpLocks/>
          </p:cNvGrpSpPr>
          <p:nvPr/>
        </p:nvGrpSpPr>
        <p:grpSpPr>
          <a:xfrm>
            <a:off x="724462" y="13246225"/>
            <a:ext cx="5757494" cy="7082598"/>
            <a:chOff x="5077552" y="7561166"/>
            <a:chExt cx="4843519" cy="5776745"/>
          </a:xfrm>
        </p:grpSpPr>
        <p:pic>
          <p:nvPicPr>
            <p:cNvPr id="1071" name="Picture 1070">
              <a:extLst>
                <a:ext uri="{FF2B5EF4-FFF2-40B4-BE49-F238E27FC236}">
                  <a16:creationId xmlns:a16="http://schemas.microsoft.com/office/drawing/2014/main" id="{87E52843-1025-563B-3235-27D694C74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7552" y="7561166"/>
              <a:ext cx="4843519" cy="5776745"/>
            </a:xfrm>
            <a:prstGeom prst="rect">
              <a:avLst/>
            </a:prstGeom>
          </p:spPr>
        </p:pic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CF9A2569-0838-5BCA-952E-24E955BD1431}"/>
                </a:ext>
              </a:extLst>
            </p:cNvPr>
            <p:cNvSpPr>
              <a:spLocks/>
            </p:cNvSpPr>
            <p:nvPr/>
          </p:nvSpPr>
          <p:spPr>
            <a:xfrm>
              <a:off x="5078375" y="7561166"/>
              <a:ext cx="189074" cy="278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89102A2E-121E-50BB-492B-8EEAB5622652}"/>
              </a:ext>
            </a:extLst>
          </p:cNvPr>
          <p:cNvSpPr/>
          <p:nvPr/>
        </p:nvSpPr>
        <p:spPr>
          <a:xfrm>
            <a:off x="13896855" y="8267140"/>
            <a:ext cx="13296801" cy="15803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04A3AFD1-E50F-3620-FE17-BD9B2C69F40B}"/>
              </a:ext>
            </a:extLst>
          </p:cNvPr>
          <p:cNvSpPr txBox="1"/>
          <p:nvPr/>
        </p:nvSpPr>
        <p:spPr>
          <a:xfrm>
            <a:off x="14001856" y="8235781"/>
            <a:ext cx="12704701" cy="1588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Waveguide loss measurements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 approach: measure transmission through spiral-wound “paperclip” waveguides.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Problem: grating coupler efficiency varies widely due to variations in etch depth, angle, etc.</a:t>
            </a:r>
          </a:p>
          <a:p>
            <a:pPr marL="1879059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Many samples and large chip area needed to get reliable loss measurement.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Better approach: ring resonator transmission spectrum.  Finesse → propagation loss.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Best loss seen in ring resonator: </a:t>
            </a:r>
            <a:r>
              <a:rPr lang="en-US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0.35 dB/cm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1879059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Varies spatially across chip: need to control etch better.</a:t>
            </a:r>
            <a:endParaRPr lang="en-US" sz="2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BB049285-D85F-D377-63A2-0AA9833E1236}"/>
              </a:ext>
            </a:extLst>
          </p:cNvPr>
          <p:cNvGrpSpPr/>
          <p:nvPr/>
        </p:nvGrpSpPr>
        <p:grpSpPr>
          <a:xfrm>
            <a:off x="14544034" y="9384583"/>
            <a:ext cx="2340532" cy="6122117"/>
            <a:chOff x="4156661" y="15869718"/>
            <a:chExt cx="1980849" cy="5546843"/>
          </a:xfrm>
        </p:grpSpPr>
        <p:pic>
          <p:nvPicPr>
            <p:cNvPr id="1078" name="Picture 1077">
              <a:extLst>
                <a:ext uri="{FF2B5EF4-FFF2-40B4-BE49-F238E27FC236}">
                  <a16:creationId xmlns:a16="http://schemas.microsoft.com/office/drawing/2014/main" id="{2AD5D68F-2F89-E1B5-AA57-4E42073BF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7915" t="51365" r="32807" b="7069"/>
            <a:stretch/>
          </p:blipFill>
          <p:spPr>
            <a:xfrm>
              <a:off x="4156661" y="15869718"/>
              <a:ext cx="1980849" cy="5546843"/>
            </a:xfrm>
            <a:prstGeom prst="rect">
              <a:avLst/>
            </a:prstGeom>
          </p:spPr>
        </p:pic>
        <p:pic>
          <p:nvPicPr>
            <p:cNvPr id="1079" name="Picture 1078">
              <a:extLst>
                <a:ext uri="{FF2B5EF4-FFF2-40B4-BE49-F238E27FC236}">
                  <a16:creationId xmlns:a16="http://schemas.microsoft.com/office/drawing/2014/main" id="{450CFB70-0915-BD1D-EDD9-BF0A0ED6B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78" t="90365" r="1863" b="2604"/>
            <a:stretch/>
          </p:blipFill>
          <p:spPr>
            <a:xfrm>
              <a:off x="5068776" y="20847027"/>
              <a:ext cx="974186" cy="457442"/>
            </a:xfrm>
            <a:prstGeom prst="rect">
              <a:avLst/>
            </a:prstGeom>
          </p:spPr>
        </p:pic>
      </p:grpSp>
      <p:pic>
        <p:nvPicPr>
          <p:cNvPr id="1080" name="Picture 2">
            <a:extLst>
              <a:ext uri="{FF2B5EF4-FFF2-40B4-BE49-F238E27FC236}">
                <a16:creationId xmlns:a16="http://schemas.microsoft.com/office/drawing/2014/main" id="{38ED30CA-FD8C-C000-3F82-BA8DC5B2A8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48"/>
          <a:stretch/>
        </p:blipFill>
        <p:spPr bwMode="auto">
          <a:xfrm>
            <a:off x="17290589" y="9384583"/>
            <a:ext cx="7340344" cy="555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1" name="Picture 2">
            <a:extLst>
              <a:ext uri="{FF2B5EF4-FFF2-40B4-BE49-F238E27FC236}">
                <a16:creationId xmlns:a16="http://schemas.microsoft.com/office/drawing/2014/main" id="{0B2907D0-6CCB-216D-8793-FA1C86C18B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06" t="1117" b="77738"/>
          <a:stretch/>
        </p:blipFill>
        <p:spPr bwMode="auto">
          <a:xfrm>
            <a:off x="18343927" y="14808630"/>
            <a:ext cx="5524056" cy="1411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473678DA-7ED1-1AF1-B44E-73CB2F2F8587}"/>
              </a:ext>
            </a:extLst>
          </p:cNvPr>
          <p:cNvGrpSpPr/>
          <p:nvPr/>
        </p:nvGrpSpPr>
        <p:grpSpPr>
          <a:xfrm>
            <a:off x="24616842" y="17373121"/>
            <a:ext cx="2430659" cy="5771740"/>
            <a:chOff x="10469160" y="15843966"/>
            <a:chExt cx="2374130" cy="5622399"/>
          </a:xfrm>
        </p:grpSpPr>
        <p:pic>
          <p:nvPicPr>
            <p:cNvPr id="1084" name="Picture 1083">
              <a:extLst>
                <a:ext uri="{FF2B5EF4-FFF2-40B4-BE49-F238E27FC236}">
                  <a16:creationId xmlns:a16="http://schemas.microsoft.com/office/drawing/2014/main" id="{1F52BB1B-7245-7A47-9D7E-69A6E427C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00" t="16464" r="19130" b="39844"/>
            <a:stretch/>
          </p:blipFill>
          <p:spPr>
            <a:xfrm rot="5400000">
              <a:off x="8845025" y="17468101"/>
              <a:ext cx="5622399" cy="2374130"/>
            </a:xfrm>
            <a:prstGeom prst="rect">
              <a:avLst/>
            </a:prstGeom>
          </p:spPr>
        </p:pic>
        <p:pic>
          <p:nvPicPr>
            <p:cNvPr id="1085" name="Picture 1084">
              <a:extLst>
                <a:ext uri="{FF2B5EF4-FFF2-40B4-BE49-F238E27FC236}">
                  <a16:creationId xmlns:a16="http://schemas.microsoft.com/office/drawing/2014/main" id="{04985BC5-6A15-A295-A57D-335CDAC4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78" t="90365" r="1863" b="2604"/>
            <a:stretch/>
          </p:blipFill>
          <p:spPr>
            <a:xfrm>
              <a:off x="11958482" y="20907551"/>
              <a:ext cx="813645" cy="382058"/>
            </a:xfrm>
            <a:prstGeom prst="rect">
              <a:avLst/>
            </a:prstGeom>
          </p:spPr>
        </p:pic>
      </p:grpSp>
      <p:sp>
        <p:nvSpPr>
          <p:cNvPr id="272" name="Rectangle 271">
            <a:extLst>
              <a:ext uri="{FF2B5EF4-FFF2-40B4-BE49-F238E27FC236}">
                <a16:creationId xmlns:a16="http://schemas.microsoft.com/office/drawing/2014/main" id="{C99CC58E-40AA-0879-6A8C-D24E65734798}"/>
              </a:ext>
            </a:extLst>
          </p:cNvPr>
          <p:cNvSpPr/>
          <p:nvPr/>
        </p:nvSpPr>
        <p:spPr>
          <a:xfrm>
            <a:off x="13896855" y="24203684"/>
            <a:ext cx="13296801" cy="6570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6A78F19-DAF4-7218-7017-A91B8A2B8D44}"/>
              </a:ext>
            </a:extLst>
          </p:cNvPr>
          <p:cNvSpPr txBox="1"/>
          <p:nvPr/>
        </p:nvSpPr>
        <p:spPr>
          <a:xfrm>
            <a:off x="13983873" y="24218498"/>
            <a:ext cx="1243155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Mirror coating reflectivity measurements: ringdown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Coated off-the-shelf polished silica substrates.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Made cavities and measured cavity ringdown time and free spectral range.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Best reflectivity seen in 35 layer stack: </a:t>
            </a:r>
            <a:r>
              <a:rPr lang="en-US" sz="2400" b="1" dirty="0"/>
              <a:t>0.999983 reflectivity</a:t>
            </a:r>
            <a:r>
              <a:rPr lang="en-US" sz="2400" dirty="0"/>
              <a:t>, or </a:t>
            </a:r>
            <a:r>
              <a:rPr lang="en-US" sz="2400" b="1" dirty="0"/>
              <a:t>180,000 finesse</a:t>
            </a:r>
            <a:r>
              <a:rPr lang="en-US" sz="24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Above: decay time 417 ns for ~2 mm cavity.</a:t>
            </a:r>
          </a:p>
        </p:txBody>
      </p:sp>
      <p:pic>
        <p:nvPicPr>
          <p:cNvPr id="277" name="Picture 276">
            <a:extLst>
              <a:ext uri="{FF2B5EF4-FFF2-40B4-BE49-F238E27FC236}">
                <a16:creationId xmlns:a16="http://schemas.microsoft.com/office/drawing/2014/main" id="{D0E0C41A-BE1A-0406-4139-20CE45B5D4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43984" y="17354303"/>
            <a:ext cx="10129851" cy="3545448"/>
          </a:xfrm>
          <a:prstGeom prst="rect">
            <a:avLst/>
          </a:prstGeom>
        </p:spPr>
      </p:pic>
      <p:sp>
        <p:nvSpPr>
          <p:cNvPr id="280" name="Rectangle 279">
            <a:extLst>
              <a:ext uri="{FF2B5EF4-FFF2-40B4-BE49-F238E27FC236}">
                <a16:creationId xmlns:a16="http://schemas.microsoft.com/office/drawing/2014/main" id="{52DDBC9A-D3D6-5672-35E0-E388686C6532}"/>
              </a:ext>
            </a:extLst>
          </p:cNvPr>
          <p:cNvSpPr/>
          <p:nvPr/>
        </p:nvSpPr>
        <p:spPr>
          <a:xfrm>
            <a:off x="13896855" y="30913052"/>
            <a:ext cx="13296801" cy="25078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80B80011-FC88-3AC1-3166-AACFBA71333B}"/>
              </a:ext>
            </a:extLst>
          </p:cNvPr>
          <p:cNvSpPr txBox="1"/>
          <p:nvPr/>
        </p:nvSpPr>
        <p:spPr>
          <a:xfrm>
            <a:off x="13983873" y="30927866"/>
            <a:ext cx="124315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Next steps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Continue improving mirror and waveguide loss.  Annealing?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Make cavities with mirrors on silicon wafers instead of optical substrates. Same reflectivity?</a:t>
            </a:r>
          </a:p>
          <a:p>
            <a:pPr marL="2107659" lvl="1" indent="-571500">
              <a:buFont typeface="Arial" panose="020B0604020202020204" pitchFamily="34" charset="0"/>
              <a:buChar char="•"/>
            </a:pPr>
            <a:r>
              <a:rPr lang="en-US" sz="2400" dirty="0"/>
              <a:t>Worse surface roughness on silicon wafers?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Wafer bonding of flat mirrors with waveguides and wafer with curved micro-mirrors.</a:t>
            </a:r>
          </a:p>
        </p:txBody>
      </p:sp>
      <p:pic>
        <p:nvPicPr>
          <p:cNvPr id="283" name="Picture 282">
            <a:extLst>
              <a:ext uri="{FF2B5EF4-FFF2-40B4-BE49-F238E27FC236}">
                <a16:creationId xmlns:a16="http://schemas.microsoft.com/office/drawing/2014/main" id="{EBEB7374-F488-E3E9-E8E4-D701EEC96C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22904" y="20947463"/>
            <a:ext cx="9942980" cy="2197399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2ECA54AF-311E-E262-B1D1-0DDC0EEC4E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44034" y="25961648"/>
            <a:ext cx="12331023" cy="4315858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A3D330D7-997F-1023-1D24-883A368CA25A}"/>
              </a:ext>
            </a:extLst>
          </p:cNvPr>
          <p:cNvSpPr/>
          <p:nvPr/>
        </p:nvSpPr>
        <p:spPr>
          <a:xfrm>
            <a:off x="233498" y="21436814"/>
            <a:ext cx="13296801" cy="119840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EF0AAF35-FA73-7BC3-CB9F-2961AF7E7DC8}"/>
              </a:ext>
            </a:extLst>
          </p:cNvPr>
          <p:cNvSpPr txBox="1"/>
          <p:nvPr/>
        </p:nvSpPr>
        <p:spPr>
          <a:xfrm>
            <a:off x="320516" y="21471784"/>
            <a:ext cx="124315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Vision: gratings </a:t>
            </a:r>
            <a:r>
              <a:rPr lang="en-US" sz="3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couple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waveguides with cavities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Requires bonding flat layer with waveguides atop mirror, layer with curved mirror segments, and spacer.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Quantum applications (photon storage) in mind, but likely broadly applicable.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FB3C3B5F-6657-2E89-68BB-112E841B296D}"/>
              </a:ext>
            </a:extLst>
          </p:cNvPr>
          <p:cNvGrpSpPr/>
          <p:nvPr/>
        </p:nvGrpSpPr>
        <p:grpSpPr>
          <a:xfrm>
            <a:off x="576629" y="23623505"/>
            <a:ext cx="2927680" cy="2844117"/>
            <a:chOff x="323044" y="1190013"/>
            <a:chExt cx="3200400" cy="3200400"/>
          </a:xfrm>
        </p:grpSpPr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5D5EED09-6B7B-6683-5396-372AA0886599}"/>
                </a:ext>
              </a:extLst>
            </p:cNvPr>
            <p:cNvSpPr/>
            <p:nvPr/>
          </p:nvSpPr>
          <p:spPr>
            <a:xfrm>
              <a:off x="323044" y="1190013"/>
              <a:ext cx="3200400" cy="3200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08D07AC7-A2B7-8A50-3C87-7CB0D2ED5E1F}"/>
                </a:ext>
              </a:extLst>
            </p:cNvPr>
            <p:cNvGrpSpPr/>
            <p:nvPr/>
          </p:nvGrpSpPr>
          <p:grpSpPr>
            <a:xfrm>
              <a:off x="1038601" y="1535261"/>
              <a:ext cx="457200" cy="457200"/>
              <a:chOff x="3689800" y="1535035"/>
              <a:chExt cx="457200" cy="457200"/>
            </a:xfrm>
          </p:grpSpPr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08CCB90F-47FF-13A7-CE74-9CF19A3E28DE}"/>
                  </a:ext>
                </a:extLst>
              </p:cNvPr>
              <p:cNvSpPr/>
              <p:nvPr/>
            </p:nvSpPr>
            <p:spPr>
              <a:xfrm>
                <a:off x="3689800" y="1535035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E6AA5FED-2F13-0E9C-D6C4-4A8F0F38A264}"/>
                  </a:ext>
                </a:extLst>
              </p:cNvPr>
              <p:cNvSpPr/>
              <p:nvPr/>
            </p:nvSpPr>
            <p:spPr>
              <a:xfrm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92621BE1-39C0-4A53-ACDF-203AEFA90044}"/>
                  </a:ext>
                </a:extLst>
              </p:cNvPr>
              <p:cNvSpPr/>
              <p:nvPr/>
            </p:nvSpPr>
            <p:spPr>
              <a:xfrm rot="5400000"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54FFF4CB-2D31-D178-7F01-29FA93BFE707}"/>
                </a:ext>
              </a:extLst>
            </p:cNvPr>
            <p:cNvGrpSpPr/>
            <p:nvPr/>
          </p:nvGrpSpPr>
          <p:grpSpPr>
            <a:xfrm>
              <a:off x="2334345" y="1535261"/>
              <a:ext cx="457200" cy="457200"/>
              <a:chOff x="3689800" y="1535035"/>
              <a:chExt cx="457200" cy="457200"/>
            </a:xfrm>
          </p:grpSpPr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0F96608-57B5-B6F9-88BD-1FBAED3B3A02}"/>
                  </a:ext>
                </a:extLst>
              </p:cNvPr>
              <p:cNvSpPr/>
              <p:nvPr/>
            </p:nvSpPr>
            <p:spPr>
              <a:xfrm>
                <a:off x="3689800" y="1535035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7250FE1C-5B40-038B-7D07-5C5E6B6670DA}"/>
                  </a:ext>
                </a:extLst>
              </p:cNvPr>
              <p:cNvSpPr/>
              <p:nvPr/>
            </p:nvSpPr>
            <p:spPr>
              <a:xfrm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782354E9-C3C7-B4BA-36E9-FE44F80C8A28}"/>
                  </a:ext>
                </a:extLst>
              </p:cNvPr>
              <p:cNvSpPr/>
              <p:nvPr/>
            </p:nvSpPr>
            <p:spPr>
              <a:xfrm rot="5400000"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8EC11AE8-2221-474D-FB1E-4DB693DAC9E2}"/>
                </a:ext>
              </a:extLst>
            </p:cNvPr>
            <p:cNvGrpSpPr/>
            <p:nvPr/>
          </p:nvGrpSpPr>
          <p:grpSpPr>
            <a:xfrm>
              <a:off x="2334345" y="3505225"/>
              <a:ext cx="457200" cy="457200"/>
              <a:chOff x="3689800" y="1535035"/>
              <a:chExt cx="457200" cy="457200"/>
            </a:xfrm>
          </p:grpSpPr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A0F2CB4E-4C05-9085-3BC1-702D8CEE30EB}"/>
                  </a:ext>
                </a:extLst>
              </p:cNvPr>
              <p:cNvSpPr/>
              <p:nvPr/>
            </p:nvSpPr>
            <p:spPr>
              <a:xfrm>
                <a:off x="3689800" y="1535035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43A9CC95-3753-837C-62F4-0F765CBB6FA7}"/>
                  </a:ext>
                </a:extLst>
              </p:cNvPr>
              <p:cNvSpPr/>
              <p:nvPr/>
            </p:nvSpPr>
            <p:spPr>
              <a:xfrm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450D89C0-9185-E89D-F753-E99664C5ECA2}"/>
                  </a:ext>
                </a:extLst>
              </p:cNvPr>
              <p:cNvSpPr/>
              <p:nvPr/>
            </p:nvSpPr>
            <p:spPr>
              <a:xfrm rot="5400000"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1DC42A44-05ED-C7A5-A52C-101260ECDE29}"/>
                </a:ext>
              </a:extLst>
            </p:cNvPr>
            <p:cNvGrpSpPr/>
            <p:nvPr/>
          </p:nvGrpSpPr>
          <p:grpSpPr>
            <a:xfrm>
              <a:off x="1035521" y="3528295"/>
              <a:ext cx="457200" cy="457200"/>
              <a:chOff x="3689800" y="1535035"/>
              <a:chExt cx="457200" cy="457200"/>
            </a:xfrm>
          </p:grpSpPr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829267B7-6509-7D5E-EDB8-E9CF0385385F}"/>
                  </a:ext>
                </a:extLst>
              </p:cNvPr>
              <p:cNvSpPr/>
              <p:nvPr/>
            </p:nvSpPr>
            <p:spPr>
              <a:xfrm>
                <a:off x="3689800" y="1535035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6B4020-2C1B-A3B7-8916-177366AF4203}"/>
                  </a:ext>
                </a:extLst>
              </p:cNvPr>
              <p:cNvSpPr/>
              <p:nvPr/>
            </p:nvSpPr>
            <p:spPr>
              <a:xfrm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EFF7EB66-E6A3-9C36-DC27-AADB875A5B75}"/>
                  </a:ext>
                </a:extLst>
              </p:cNvPr>
              <p:cNvSpPr/>
              <p:nvPr/>
            </p:nvSpPr>
            <p:spPr>
              <a:xfrm rot="5400000">
                <a:off x="3895331" y="1629412"/>
                <a:ext cx="46139" cy="2684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EF0F672C-14A6-E18C-6D56-67E68C4E4D5B}"/>
                </a:ext>
              </a:extLst>
            </p:cNvPr>
            <p:cNvGrpSpPr/>
            <p:nvPr/>
          </p:nvGrpSpPr>
          <p:grpSpPr>
            <a:xfrm>
              <a:off x="1059797" y="2145592"/>
              <a:ext cx="630567" cy="139855"/>
              <a:chOff x="2961915" y="1085141"/>
              <a:chExt cx="630567" cy="139855"/>
            </a:xfrm>
          </p:grpSpPr>
          <p:sp>
            <p:nvSpPr>
              <p:cNvPr id="1202" name="Isosceles Triangle 1201">
                <a:extLst>
                  <a:ext uri="{FF2B5EF4-FFF2-40B4-BE49-F238E27FC236}">
                    <a16:creationId xmlns:a16="http://schemas.microsoft.com/office/drawing/2014/main" id="{9E1C0279-366E-6084-CCC7-C37FAF33C645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03" name="Straight Connector 1202">
                <a:extLst>
                  <a:ext uri="{FF2B5EF4-FFF2-40B4-BE49-F238E27FC236}">
                    <a16:creationId xmlns:a16="http://schemas.microsoft.com/office/drawing/2014/main" id="{C5A69721-5D78-A053-A618-0D6BBE0D45C7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4" name="Isosceles Triangle 1203">
                <a:extLst>
                  <a:ext uri="{FF2B5EF4-FFF2-40B4-BE49-F238E27FC236}">
                    <a16:creationId xmlns:a16="http://schemas.microsoft.com/office/drawing/2014/main" id="{A4D970E5-D858-A5D5-FEE5-16F9EA25E1B1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5" name="Group 1204">
                <a:extLst>
                  <a:ext uri="{FF2B5EF4-FFF2-40B4-BE49-F238E27FC236}">
                    <a16:creationId xmlns:a16="http://schemas.microsoft.com/office/drawing/2014/main" id="{D123FB39-5BBE-A7E4-95C1-5603914098F5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212" name="Rectangle 1211">
                  <a:extLst>
                    <a:ext uri="{FF2B5EF4-FFF2-40B4-BE49-F238E27FC236}">
                      <a16:creationId xmlns:a16="http://schemas.microsoft.com/office/drawing/2014/main" id="{9983F9C7-55B0-AC9A-2FDC-A5BD15ADF0D1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13" name="Straight Connector 1212">
                  <a:extLst>
                    <a:ext uri="{FF2B5EF4-FFF2-40B4-BE49-F238E27FC236}">
                      <a16:creationId xmlns:a16="http://schemas.microsoft.com/office/drawing/2014/main" id="{24CCF19E-0CD0-F814-FEA6-A542F8580A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4" name="Straight Connector 1213">
                  <a:extLst>
                    <a:ext uri="{FF2B5EF4-FFF2-40B4-BE49-F238E27FC236}">
                      <a16:creationId xmlns:a16="http://schemas.microsoft.com/office/drawing/2014/main" id="{A84C5034-7E5B-9BF1-7E85-944EFD272D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5" name="Straight Connector 1214">
                  <a:extLst>
                    <a:ext uri="{FF2B5EF4-FFF2-40B4-BE49-F238E27FC236}">
                      <a16:creationId xmlns:a16="http://schemas.microsoft.com/office/drawing/2014/main" id="{AC168E9A-5BC7-806F-6A44-5803DC4A27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6" name="Straight Connector 1215">
                  <a:extLst>
                    <a:ext uri="{FF2B5EF4-FFF2-40B4-BE49-F238E27FC236}">
                      <a16:creationId xmlns:a16="http://schemas.microsoft.com/office/drawing/2014/main" id="{73512D11-4C75-E9CA-9F84-FC060E07E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6" name="Group 1205">
                <a:extLst>
                  <a:ext uri="{FF2B5EF4-FFF2-40B4-BE49-F238E27FC236}">
                    <a16:creationId xmlns:a16="http://schemas.microsoft.com/office/drawing/2014/main" id="{7F149F5F-0C8F-795A-A336-C485FE619352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207" name="Rectangle 1206">
                  <a:extLst>
                    <a:ext uri="{FF2B5EF4-FFF2-40B4-BE49-F238E27FC236}">
                      <a16:creationId xmlns:a16="http://schemas.microsoft.com/office/drawing/2014/main" id="{63E49E72-A510-8DE6-6EA5-61628BF87709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08" name="Straight Connector 1207">
                  <a:extLst>
                    <a:ext uri="{FF2B5EF4-FFF2-40B4-BE49-F238E27FC236}">
                      <a16:creationId xmlns:a16="http://schemas.microsoft.com/office/drawing/2014/main" id="{8BA89AF0-9160-0F40-EC5D-F938E81E7E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9" name="Straight Connector 1208">
                  <a:extLst>
                    <a:ext uri="{FF2B5EF4-FFF2-40B4-BE49-F238E27FC236}">
                      <a16:creationId xmlns:a16="http://schemas.microsoft.com/office/drawing/2014/main" id="{57759FBE-CD7F-4032-A853-28E97779D6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0" name="Straight Connector 1209">
                  <a:extLst>
                    <a:ext uri="{FF2B5EF4-FFF2-40B4-BE49-F238E27FC236}">
                      <a16:creationId xmlns:a16="http://schemas.microsoft.com/office/drawing/2014/main" id="{C77A43C5-67C7-E0EB-BF18-274CCE5AF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1" name="Straight Connector 1210">
                  <a:extLst>
                    <a:ext uri="{FF2B5EF4-FFF2-40B4-BE49-F238E27FC236}">
                      <a16:creationId xmlns:a16="http://schemas.microsoft.com/office/drawing/2014/main" id="{64157563-1788-80E8-BA51-7C8F8A7797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7EE489E3-70FE-91F0-13B1-265CF521429E}"/>
                </a:ext>
              </a:extLst>
            </p:cNvPr>
            <p:cNvGrpSpPr/>
            <p:nvPr/>
          </p:nvGrpSpPr>
          <p:grpSpPr>
            <a:xfrm>
              <a:off x="1062162" y="2532540"/>
              <a:ext cx="630567" cy="139855"/>
              <a:chOff x="2961915" y="1085141"/>
              <a:chExt cx="630567" cy="139855"/>
            </a:xfrm>
          </p:grpSpPr>
          <p:sp>
            <p:nvSpPr>
              <p:cNvPr id="1187" name="Isosceles Triangle 1186">
                <a:extLst>
                  <a:ext uri="{FF2B5EF4-FFF2-40B4-BE49-F238E27FC236}">
                    <a16:creationId xmlns:a16="http://schemas.microsoft.com/office/drawing/2014/main" id="{E98FF215-D03E-8C75-5E92-5654EE8DB1E6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88" name="Straight Connector 1187">
                <a:extLst>
                  <a:ext uri="{FF2B5EF4-FFF2-40B4-BE49-F238E27FC236}">
                    <a16:creationId xmlns:a16="http://schemas.microsoft.com/office/drawing/2014/main" id="{84CB6211-97B1-6A25-279D-D0015D2E4200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9" name="Isosceles Triangle 1188">
                <a:extLst>
                  <a:ext uri="{FF2B5EF4-FFF2-40B4-BE49-F238E27FC236}">
                    <a16:creationId xmlns:a16="http://schemas.microsoft.com/office/drawing/2014/main" id="{7BCE50D3-CE55-C00B-27BD-A43C92D4B9E3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90" name="Group 1189">
                <a:extLst>
                  <a:ext uri="{FF2B5EF4-FFF2-40B4-BE49-F238E27FC236}">
                    <a16:creationId xmlns:a16="http://schemas.microsoft.com/office/drawing/2014/main" id="{B735E441-1F55-AC47-AC28-C1E40D3A5F19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197" name="Rectangle 1196">
                  <a:extLst>
                    <a:ext uri="{FF2B5EF4-FFF2-40B4-BE49-F238E27FC236}">
                      <a16:creationId xmlns:a16="http://schemas.microsoft.com/office/drawing/2014/main" id="{FCD90D09-7ECF-ADA1-7D11-6155CB6AFC33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98" name="Straight Connector 1197">
                  <a:extLst>
                    <a:ext uri="{FF2B5EF4-FFF2-40B4-BE49-F238E27FC236}">
                      <a16:creationId xmlns:a16="http://schemas.microsoft.com/office/drawing/2014/main" id="{5DE70CF4-1E40-81CB-FD54-8101C36BAE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9" name="Straight Connector 1198">
                  <a:extLst>
                    <a:ext uri="{FF2B5EF4-FFF2-40B4-BE49-F238E27FC236}">
                      <a16:creationId xmlns:a16="http://schemas.microsoft.com/office/drawing/2014/main" id="{51AF66E1-0AC7-E7BD-46BC-36F22BD943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0" name="Straight Connector 1199">
                  <a:extLst>
                    <a:ext uri="{FF2B5EF4-FFF2-40B4-BE49-F238E27FC236}">
                      <a16:creationId xmlns:a16="http://schemas.microsoft.com/office/drawing/2014/main" id="{33F3B1E8-1F6E-7FC9-35BE-70CC603387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1" name="Straight Connector 1200">
                  <a:extLst>
                    <a:ext uri="{FF2B5EF4-FFF2-40B4-BE49-F238E27FC236}">
                      <a16:creationId xmlns:a16="http://schemas.microsoft.com/office/drawing/2014/main" id="{2F9290E3-C62A-14C9-5639-F91D1173AA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1" name="Group 1190">
                <a:extLst>
                  <a:ext uri="{FF2B5EF4-FFF2-40B4-BE49-F238E27FC236}">
                    <a16:creationId xmlns:a16="http://schemas.microsoft.com/office/drawing/2014/main" id="{FF3BD224-13FC-1F60-D80D-3D7DDC217546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192" name="Rectangle 1191">
                  <a:extLst>
                    <a:ext uri="{FF2B5EF4-FFF2-40B4-BE49-F238E27FC236}">
                      <a16:creationId xmlns:a16="http://schemas.microsoft.com/office/drawing/2014/main" id="{7C2C5729-2318-89F4-6B9B-0350D2BE7C32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93" name="Straight Connector 1192">
                  <a:extLst>
                    <a:ext uri="{FF2B5EF4-FFF2-40B4-BE49-F238E27FC236}">
                      <a16:creationId xmlns:a16="http://schemas.microsoft.com/office/drawing/2014/main" id="{6488404E-C921-3AF0-92BB-607430EB4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4" name="Straight Connector 1193">
                  <a:extLst>
                    <a:ext uri="{FF2B5EF4-FFF2-40B4-BE49-F238E27FC236}">
                      <a16:creationId xmlns:a16="http://schemas.microsoft.com/office/drawing/2014/main" id="{A910F4C0-96D1-9416-868B-75F6C0C6D9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5" name="Straight Connector 1194">
                  <a:extLst>
                    <a:ext uri="{FF2B5EF4-FFF2-40B4-BE49-F238E27FC236}">
                      <a16:creationId xmlns:a16="http://schemas.microsoft.com/office/drawing/2014/main" id="{44FA3189-3602-77FF-48BA-2B7013CFD0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6" name="Straight Connector 1195">
                  <a:extLst>
                    <a:ext uri="{FF2B5EF4-FFF2-40B4-BE49-F238E27FC236}">
                      <a16:creationId xmlns:a16="http://schemas.microsoft.com/office/drawing/2014/main" id="{6F88DB07-1B2D-240B-D3F2-D0B197DF66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E8CB96CE-BAB8-599D-50E3-3E8ED12FF233}"/>
                </a:ext>
              </a:extLst>
            </p:cNvPr>
            <p:cNvGrpSpPr/>
            <p:nvPr/>
          </p:nvGrpSpPr>
          <p:grpSpPr>
            <a:xfrm>
              <a:off x="1059797" y="2874025"/>
              <a:ext cx="630567" cy="139855"/>
              <a:chOff x="2961915" y="1085141"/>
              <a:chExt cx="630567" cy="139855"/>
            </a:xfrm>
          </p:grpSpPr>
          <p:sp>
            <p:nvSpPr>
              <p:cNvPr id="1172" name="Isosceles Triangle 1171">
                <a:extLst>
                  <a:ext uri="{FF2B5EF4-FFF2-40B4-BE49-F238E27FC236}">
                    <a16:creationId xmlns:a16="http://schemas.microsoft.com/office/drawing/2014/main" id="{2295FE55-A965-26FD-EBBD-48FD604B67F4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73" name="Straight Connector 1172">
                <a:extLst>
                  <a:ext uri="{FF2B5EF4-FFF2-40B4-BE49-F238E27FC236}">
                    <a16:creationId xmlns:a16="http://schemas.microsoft.com/office/drawing/2014/main" id="{7E41512A-A855-9171-C3EB-977B1634BE61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4" name="Isosceles Triangle 1173">
                <a:extLst>
                  <a:ext uri="{FF2B5EF4-FFF2-40B4-BE49-F238E27FC236}">
                    <a16:creationId xmlns:a16="http://schemas.microsoft.com/office/drawing/2014/main" id="{4A1BE680-C977-C530-9B8D-5B1E8CFA4B10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75" name="Group 1174">
                <a:extLst>
                  <a:ext uri="{FF2B5EF4-FFF2-40B4-BE49-F238E27FC236}">
                    <a16:creationId xmlns:a16="http://schemas.microsoft.com/office/drawing/2014/main" id="{308F8056-A8FA-5450-76FE-C9D5B21B21A2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182" name="Rectangle 1181">
                  <a:extLst>
                    <a:ext uri="{FF2B5EF4-FFF2-40B4-BE49-F238E27FC236}">
                      <a16:creationId xmlns:a16="http://schemas.microsoft.com/office/drawing/2014/main" id="{DB731836-2426-6F3C-86A3-05615BA3314F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83" name="Straight Connector 1182">
                  <a:extLst>
                    <a:ext uri="{FF2B5EF4-FFF2-40B4-BE49-F238E27FC236}">
                      <a16:creationId xmlns:a16="http://schemas.microsoft.com/office/drawing/2014/main" id="{B385C2BB-57B2-E971-C02D-87B41F4195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4" name="Straight Connector 1183">
                  <a:extLst>
                    <a:ext uri="{FF2B5EF4-FFF2-40B4-BE49-F238E27FC236}">
                      <a16:creationId xmlns:a16="http://schemas.microsoft.com/office/drawing/2014/main" id="{03EF431A-5F24-4A7C-D076-1AD9A80AC8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5" name="Straight Connector 1184">
                  <a:extLst>
                    <a:ext uri="{FF2B5EF4-FFF2-40B4-BE49-F238E27FC236}">
                      <a16:creationId xmlns:a16="http://schemas.microsoft.com/office/drawing/2014/main" id="{A55CBB13-6D3D-D11A-17C8-0D623A8096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6" name="Straight Connector 1185">
                  <a:extLst>
                    <a:ext uri="{FF2B5EF4-FFF2-40B4-BE49-F238E27FC236}">
                      <a16:creationId xmlns:a16="http://schemas.microsoft.com/office/drawing/2014/main" id="{B95E3D06-7656-D675-0D1A-0AAB63537C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6" name="Group 1175">
                <a:extLst>
                  <a:ext uri="{FF2B5EF4-FFF2-40B4-BE49-F238E27FC236}">
                    <a16:creationId xmlns:a16="http://schemas.microsoft.com/office/drawing/2014/main" id="{1C6182FA-590F-0678-7E3F-F1C1FCC07D62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177" name="Rectangle 1176">
                  <a:extLst>
                    <a:ext uri="{FF2B5EF4-FFF2-40B4-BE49-F238E27FC236}">
                      <a16:creationId xmlns:a16="http://schemas.microsoft.com/office/drawing/2014/main" id="{FF05D740-F6F3-C70D-6BBE-5300D583CCB4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78" name="Straight Connector 1177">
                  <a:extLst>
                    <a:ext uri="{FF2B5EF4-FFF2-40B4-BE49-F238E27FC236}">
                      <a16:creationId xmlns:a16="http://schemas.microsoft.com/office/drawing/2014/main" id="{BA0B6E6D-9DF7-17C0-02F3-F9A832426C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9" name="Straight Connector 1178">
                  <a:extLst>
                    <a:ext uri="{FF2B5EF4-FFF2-40B4-BE49-F238E27FC236}">
                      <a16:creationId xmlns:a16="http://schemas.microsoft.com/office/drawing/2014/main" id="{AD51382E-3863-6701-4CFC-57D6A92C4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0" name="Straight Connector 1179">
                  <a:extLst>
                    <a:ext uri="{FF2B5EF4-FFF2-40B4-BE49-F238E27FC236}">
                      <a16:creationId xmlns:a16="http://schemas.microsoft.com/office/drawing/2014/main" id="{19BB9AE6-B27B-2F61-5567-8FC674323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1" name="Straight Connector 1180">
                  <a:extLst>
                    <a:ext uri="{FF2B5EF4-FFF2-40B4-BE49-F238E27FC236}">
                      <a16:creationId xmlns:a16="http://schemas.microsoft.com/office/drawing/2014/main" id="{97E0AA0D-198C-7471-5F8A-2C242BDCD8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B9704927-16B8-17B4-E87F-A2447EC187DA}"/>
                </a:ext>
              </a:extLst>
            </p:cNvPr>
            <p:cNvGrpSpPr/>
            <p:nvPr/>
          </p:nvGrpSpPr>
          <p:grpSpPr>
            <a:xfrm>
              <a:off x="1062162" y="3260973"/>
              <a:ext cx="630567" cy="139855"/>
              <a:chOff x="2961915" y="1085141"/>
              <a:chExt cx="630567" cy="139855"/>
            </a:xfrm>
          </p:grpSpPr>
          <p:sp>
            <p:nvSpPr>
              <p:cNvPr id="1157" name="Isosceles Triangle 1156">
                <a:extLst>
                  <a:ext uri="{FF2B5EF4-FFF2-40B4-BE49-F238E27FC236}">
                    <a16:creationId xmlns:a16="http://schemas.microsoft.com/office/drawing/2014/main" id="{E9623E31-CD2D-D445-7220-C7CE91B2A5F8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58" name="Straight Connector 1157">
                <a:extLst>
                  <a:ext uri="{FF2B5EF4-FFF2-40B4-BE49-F238E27FC236}">
                    <a16:creationId xmlns:a16="http://schemas.microsoft.com/office/drawing/2014/main" id="{9A5A91A7-0D2A-B466-CD51-AE409204949F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9" name="Isosceles Triangle 1158">
                <a:extLst>
                  <a:ext uri="{FF2B5EF4-FFF2-40B4-BE49-F238E27FC236}">
                    <a16:creationId xmlns:a16="http://schemas.microsoft.com/office/drawing/2014/main" id="{A177F290-DF12-0259-90A5-909E85E0C0F0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9F0649AF-80B8-3644-8AF6-4583A4E4DC0B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167" name="Rectangle 1166">
                  <a:extLst>
                    <a:ext uri="{FF2B5EF4-FFF2-40B4-BE49-F238E27FC236}">
                      <a16:creationId xmlns:a16="http://schemas.microsoft.com/office/drawing/2014/main" id="{6A70171D-13D1-FE39-85F7-76B3703E47FB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68" name="Straight Connector 1167">
                  <a:extLst>
                    <a:ext uri="{FF2B5EF4-FFF2-40B4-BE49-F238E27FC236}">
                      <a16:creationId xmlns:a16="http://schemas.microsoft.com/office/drawing/2014/main" id="{F7692CE5-03AF-900E-582C-2601A7DDF8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9" name="Straight Connector 1168">
                  <a:extLst>
                    <a:ext uri="{FF2B5EF4-FFF2-40B4-BE49-F238E27FC236}">
                      <a16:creationId xmlns:a16="http://schemas.microsoft.com/office/drawing/2014/main" id="{013F4BE1-29EA-1CE9-2EF0-1A519CA860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0" name="Straight Connector 1169">
                  <a:extLst>
                    <a:ext uri="{FF2B5EF4-FFF2-40B4-BE49-F238E27FC236}">
                      <a16:creationId xmlns:a16="http://schemas.microsoft.com/office/drawing/2014/main" id="{6EDBC83C-93F4-AF8C-2DAF-E8E238B45D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1" name="Straight Connector 1170">
                  <a:extLst>
                    <a:ext uri="{FF2B5EF4-FFF2-40B4-BE49-F238E27FC236}">
                      <a16:creationId xmlns:a16="http://schemas.microsoft.com/office/drawing/2014/main" id="{2634E8B3-228E-FBEC-E9E6-C3F14F024F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61" name="Group 1160">
                <a:extLst>
                  <a:ext uri="{FF2B5EF4-FFF2-40B4-BE49-F238E27FC236}">
                    <a16:creationId xmlns:a16="http://schemas.microsoft.com/office/drawing/2014/main" id="{67B9EBB6-AB24-9758-AAB1-ECC38BFBA0E5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162" name="Rectangle 1161">
                  <a:extLst>
                    <a:ext uri="{FF2B5EF4-FFF2-40B4-BE49-F238E27FC236}">
                      <a16:creationId xmlns:a16="http://schemas.microsoft.com/office/drawing/2014/main" id="{C851F77C-83A9-E2D7-9359-3990D08DF8FC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63" name="Straight Connector 1162">
                  <a:extLst>
                    <a:ext uri="{FF2B5EF4-FFF2-40B4-BE49-F238E27FC236}">
                      <a16:creationId xmlns:a16="http://schemas.microsoft.com/office/drawing/2014/main" id="{461AC645-14FD-F823-BEAE-55A74916BC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4" name="Straight Connector 1163">
                  <a:extLst>
                    <a:ext uri="{FF2B5EF4-FFF2-40B4-BE49-F238E27FC236}">
                      <a16:creationId xmlns:a16="http://schemas.microsoft.com/office/drawing/2014/main" id="{79DB9D92-C396-E504-D240-BDE8486A15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5" name="Straight Connector 1164">
                  <a:extLst>
                    <a:ext uri="{FF2B5EF4-FFF2-40B4-BE49-F238E27FC236}">
                      <a16:creationId xmlns:a16="http://schemas.microsoft.com/office/drawing/2014/main" id="{CBE8EE75-53EA-B885-4E45-B20C815C98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6" name="Straight Connector 1165">
                  <a:extLst>
                    <a:ext uri="{FF2B5EF4-FFF2-40B4-BE49-F238E27FC236}">
                      <a16:creationId xmlns:a16="http://schemas.microsoft.com/office/drawing/2014/main" id="{9DB3BD6D-0D0F-80BE-B12F-0F7E49626F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98C026F8-4D9B-774A-6084-61CE6BD204EF}"/>
                </a:ext>
              </a:extLst>
            </p:cNvPr>
            <p:cNvGrpSpPr/>
            <p:nvPr/>
          </p:nvGrpSpPr>
          <p:grpSpPr>
            <a:xfrm>
              <a:off x="1831871" y="2148454"/>
              <a:ext cx="630567" cy="139855"/>
              <a:chOff x="2961915" y="1085141"/>
              <a:chExt cx="630567" cy="139855"/>
            </a:xfrm>
          </p:grpSpPr>
          <p:sp>
            <p:nvSpPr>
              <p:cNvPr id="1142" name="Isosceles Triangle 1141">
                <a:extLst>
                  <a:ext uri="{FF2B5EF4-FFF2-40B4-BE49-F238E27FC236}">
                    <a16:creationId xmlns:a16="http://schemas.microsoft.com/office/drawing/2014/main" id="{56C93C4F-D744-C1FC-E0A9-211014426799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446FC278-7617-A54E-26AF-D3831C8E0DAA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4" name="Isosceles Triangle 1143">
                <a:extLst>
                  <a:ext uri="{FF2B5EF4-FFF2-40B4-BE49-F238E27FC236}">
                    <a16:creationId xmlns:a16="http://schemas.microsoft.com/office/drawing/2014/main" id="{6FB1101C-B0DD-ED3A-D146-714AAE8F9F0F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5" name="Group 1144">
                <a:extLst>
                  <a:ext uri="{FF2B5EF4-FFF2-40B4-BE49-F238E27FC236}">
                    <a16:creationId xmlns:a16="http://schemas.microsoft.com/office/drawing/2014/main" id="{2F1D895B-1AA4-93A7-DED6-7CC2AE921B4D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152" name="Rectangle 1151">
                  <a:extLst>
                    <a:ext uri="{FF2B5EF4-FFF2-40B4-BE49-F238E27FC236}">
                      <a16:creationId xmlns:a16="http://schemas.microsoft.com/office/drawing/2014/main" id="{385440C7-83AA-9048-F3CD-DD6BFAE9CF3B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53" name="Straight Connector 1152">
                  <a:extLst>
                    <a:ext uri="{FF2B5EF4-FFF2-40B4-BE49-F238E27FC236}">
                      <a16:creationId xmlns:a16="http://schemas.microsoft.com/office/drawing/2014/main" id="{F6828282-BEB5-F028-6BAD-5534F29AC9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4" name="Straight Connector 1153">
                  <a:extLst>
                    <a:ext uri="{FF2B5EF4-FFF2-40B4-BE49-F238E27FC236}">
                      <a16:creationId xmlns:a16="http://schemas.microsoft.com/office/drawing/2014/main" id="{5449DD82-F305-70B9-2150-A7DA37C622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5" name="Straight Connector 1154">
                  <a:extLst>
                    <a:ext uri="{FF2B5EF4-FFF2-40B4-BE49-F238E27FC236}">
                      <a16:creationId xmlns:a16="http://schemas.microsoft.com/office/drawing/2014/main" id="{BDC6F3BC-64D5-66B1-270C-EA3CD632E7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6" name="Straight Connector 1155">
                  <a:extLst>
                    <a:ext uri="{FF2B5EF4-FFF2-40B4-BE49-F238E27FC236}">
                      <a16:creationId xmlns:a16="http://schemas.microsoft.com/office/drawing/2014/main" id="{ACF2790F-97E3-0CF3-CE34-13C4697C6A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722E8D5E-06FB-CDC2-CF88-553DCA7C2DF8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147" name="Rectangle 1146">
                  <a:extLst>
                    <a:ext uri="{FF2B5EF4-FFF2-40B4-BE49-F238E27FC236}">
                      <a16:creationId xmlns:a16="http://schemas.microsoft.com/office/drawing/2014/main" id="{863DA1B8-007A-2AA6-63A0-D79E81C47517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48" name="Straight Connector 1147">
                  <a:extLst>
                    <a:ext uri="{FF2B5EF4-FFF2-40B4-BE49-F238E27FC236}">
                      <a16:creationId xmlns:a16="http://schemas.microsoft.com/office/drawing/2014/main" id="{00412DDC-5F33-AE89-0BEE-8CBB92ADFD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9" name="Straight Connector 1148">
                  <a:extLst>
                    <a:ext uri="{FF2B5EF4-FFF2-40B4-BE49-F238E27FC236}">
                      <a16:creationId xmlns:a16="http://schemas.microsoft.com/office/drawing/2014/main" id="{F5C5586A-5C29-DB15-AE4E-C02E314BF5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0" name="Straight Connector 1149">
                  <a:extLst>
                    <a:ext uri="{FF2B5EF4-FFF2-40B4-BE49-F238E27FC236}">
                      <a16:creationId xmlns:a16="http://schemas.microsoft.com/office/drawing/2014/main" id="{AD5F1C13-FF05-87E2-62EB-811DEC7A43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1" name="Straight Connector 1150">
                  <a:extLst>
                    <a:ext uri="{FF2B5EF4-FFF2-40B4-BE49-F238E27FC236}">
                      <a16:creationId xmlns:a16="http://schemas.microsoft.com/office/drawing/2014/main" id="{66C99175-D359-E13B-D592-08B3B4871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6B0457F9-07FB-A8AE-5E5E-07C9B4307E09}"/>
                </a:ext>
              </a:extLst>
            </p:cNvPr>
            <p:cNvGrpSpPr/>
            <p:nvPr/>
          </p:nvGrpSpPr>
          <p:grpSpPr>
            <a:xfrm>
              <a:off x="1834236" y="2535402"/>
              <a:ext cx="630567" cy="139855"/>
              <a:chOff x="2961915" y="1085141"/>
              <a:chExt cx="630567" cy="139855"/>
            </a:xfrm>
          </p:grpSpPr>
          <p:sp>
            <p:nvSpPr>
              <p:cNvPr id="1127" name="Isosceles Triangle 1126">
                <a:extLst>
                  <a:ext uri="{FF2B5EF4-FFF2-40B4-BE49-F238E27FC236}">
                    <a16:creationId xmlns:a16="http://schemas.microsoft.com/office/drawing/2014/main" id="{22067367-B1F9-06C8-2669-0CEB820FB5D8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28" name="Straight Connector 1127">
                <a:extLst>
                  <a:ext uri="{FF2B5EF4-FFF2-40B4-BE49-F238E27FC236}">
                    <a16:creationId xmlns:a16="http://schemas.microsoft.com/office/drawing/2014/main" id="{36675B44-E28F-CEE9-4241-EA372637E0CA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9" name="Isosceles Triangle 1128">
                <a:extLst>
                  <a:ext uri="{FF2B5EF4-FFF2-40B4-BE49-F238E27FC236}">
                    <a16:creationId xmlns:a16="http://schemas.microsoft.com/office/drawing/2014/main" id="{3352FC8E-373F-2C13-89D2-F5B6BEAFA377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30" name="Group 1129">
                <a:extLst>
                  <a:ext uri="{FF2B5EF4-FFF2-40B4-BE49-F238E27FC236}">
                    <a16:creationId xmlns:a16="http://schemas.microsoft.com/office/drawing/2014/main" id="{E8E14D10-2BDB-084E-C472-D56F8DC57FFA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137" name="Rectangle 1136">
                  <a:extLst>
                    <a:ext uri="{FF2B5EF4-FFF2-40B4-BE49-F238E27FC236}">
                      <a16:creationId xmlns:a16="http://schemas.microsoft.com/office/drawing/2014/main" id="{68EEE595-FC17-01FC-891B-5E18D6150FFE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38" name="Straight Connector 1137">
                  <a:extLst>
                    <a:ext uri="{FF2B5EF4-FFF2-40B4-BE49-F238E27FC236}">
                      <a16:creationId xmlns:a16="http://schemas.microsoft.com/office/drawing/2014/main" id="{A9DF974F-3C88-0ABE-6099-849BFF49E0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9" name="Straight Connector 1138">
                  <a:extLst>
                    <a:ext uri="{FF2B5EF4-FFF2-40B4-BE49-F238E27FC236}">
                      <a16:creationId xmlns:a16="http://schemas.microsoft.com/office/drawing/2014/main" id="{01FE5A42-2E37-627D-29C4-F7CF94EC23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0" name="Straight Connector 1139">
                  <a:extLst>
                    <a:ext uri="{FF2B5EF4-FFF2-40B4-BE49-F238E27FC236}">
                      <a16:creationId xmlns:a16="http://schemas.microsoft.com/office/drawing/2014/main" id="{B6F6FF1D-2C25-D722-C02A-9B48F1F90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1" name="Straight Connector 1140">
                  <a:extLst>
                    <a:ext uri="{FF2B5EF4-FFF2-40B4-BE49-F238E27FC236}">
                      <a16:creationId xmlns:a16="http://schemas.microsoft.com/office/drawing/2014/main" id="{F0F40CAC-E8CD-0A4A-50D4-9CC95B138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1" name="Group 1130">
                <a:extLst>
                  <a:ext uri="{FF2B5EF4-FFF2-40B4-BE49-F238E27FC236}">
                    <a16:creationId xmlns:a16="http://schemas.microsoft.com/office/drawing/2014/main" id="{F2B47AF3-E2B4-DDA0-74F0-D8FC097EB511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132" name="Rectangle 1131">
                  <a:extLst>
                    <a:ext uri="{FF2B5EF4-FFF2-40B4-BE49-F238E27FC236}">
                      <a16:creationId xmlns:a16="http://schemas.microsoft.com/office/drawing/2014/main" id="{A5495F9C-9C88-6B66-BA41-855E8DCDB4D7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33" name="Straight Connector 1132">
                  <a:extLst>
                    <a:ext uri="{FF2B5EF4-FFF2-40B4-BE49-F238E27FC236}">
                      <a16:creationId xmlns:a16="http://schemas.microsoft.com/office/drawing/2014/main" id="{E9A7CCC6-136F-5FE4-A633-E76769DE3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4" name="Straight Connector 1133">
                  <a:extLst>
                    <a:ext uri="{FF2B5EF4-FFF2-40B4-BE49-F238E27FC236}">
                      <a16:creationId xmlns:a16="http://schemas.microsoft.com/office/drawing/2014/main" id="{EACE03B0-506F-3F10-3726-F3B60D9E36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5" name="Straight Connector 1134">
                  <a:extLst>
                    <a:ext uri="{FF2B5EF4-FFF2-40B4-BE49-F238E27FC236}">
                      <a16:creationId xmlns:a16="http://schemas.microsoft.com/office/drawing/2014/main" id="{573EB945-DFB5-0C9D-3790-002990B8D4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6" name="Straight Connector 1135">
                  <a:extLst>
                    <a:ext uri="{FF2B5EF4-FFF2-40B4-BE49-F238E27FC236}">
                      <a16:creationId xmlns:a16="http://schemas.microsoft.com/office/drawing/2014/main" id="{76567C5C-ABDF-2947-2C04-F2EFD2949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3265EB17-2CC2-B3DD-4022-6EC844F736B6}"/>
                </a:ext>
              </a:extLst>
            </p:cNvPr>
            <p:cNvGrpSpPr/>
            <p:nvPr/>
          </p:nvGrpSpPr>
          <p:grpSpPr>
            <a:xfrm>
              <a:off x="1831871" y="2876887"/>
              <a:ext cx="630567" cy="139855"/>
              <a:chOff x="2961915" y="1085141"/>
              <a:chExt cx="630567" cy="139855"/>
            </a:xfrm>
          </p:grpSpPr>
          <p:sp>
            <p:nvSpPr>
              <p:cNvPr id="1112" name="Isosceles Triangle 1111">
                <a:extLst>
                  <a:ext uri="{FF2B5EF4-FFF2-40B4-BE49-F238E27FC236}">
                    <a16:creationId xmlns:a16="http://schemas.microsoft.com/office/drawing/2014/main" id="{20B34DCA-A42D-153D-A51A-6AB71C33BBA7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A4235DFF-D04B-3984-B716-819328AC3805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4" name="Isosceles Triangle 1113">
                <a:extLst>
                  <a:ext uri="{FF2B5EF4-FFF2-40B4-BE49-F238E27FC236}">
                    <a16:creationId xmlns:a16="http://schemas.microsoft.com/office/drawing/2014/main" id="{41F71FE7-5A96-8CE8-CE28-6884EBAA4479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15" name="Group 1114">
                <a:extLst>
                  <a:ext uri="{FF2B5EF4-FFF2-40B4-BE49-F238E27FC236}">
                    <a16:creationId xmlns:a16="http://schemas.microsoft.com/office/drawing/2014/main" id="{B87849EB-DC62-6621-E3A3-18915904F85D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122" name="Rectangle 1121">
                  <a:extLst>
                    <a:ext uri="{FF2B5EF4-FFF2-40B4-BE49-F238E27FC236}">
                      <a16:creationId xmlns:a16="http://schemas.microsoft.com/office/drawing/2014/main" id="{4FED2E6E-DC84-D8BA-D9A2-C3300BDDA5B7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DBAB6666-F7F6-E6BA-7E66-256D25180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D5F175D2-B62B-84FD-0D29-79AB29710E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5" name="Straight Connector 1124">
                  <a:extLst>
                    <a:ext uri="{FF2B5EF4-FFF2-40B4-BE49-F238E27FC236}">
                      <a16:creationId xmlns:a16="http://schemas.microsoft.com/office/drawing/2014/main" id="{C2489BB7-E052-DDDC-2E50-93F842348F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6" name="Straight Connector 1125">
                  <a:extLst>
                    <a:ext uri="{FF2B5EF4-FFF2-40B4-BE49-F238E27FC236}">
                      <a16:creationId xmlns:a16="http://schemas.microsoft.com/office/drawing/2014/main" id="{4C75E5E5-77E2-7E94-96D2-09B8D983A9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6" name="Group 1115">
                <a:extLst>
                  <a:ext uri="{FF2B5EF4-FFF2-40B4-BE49-F238E27FC236}">
                    <a16:creationId xmlns:a16="http://schemas.microsoft.com/office/drawing/2014/main" id="{BD2791F5-6FAE-5957-8472-0F1188CC1F17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117" name="Rectangle 1116">
                  <a:extLst>
                    <a:ext uri="{FF2B5EF4-FFF2-40B4-BE49-F238E27FC236}">
                      <a16:creationId xmlns:a16="http://schemas.microsoft.com/office/drawing/2014/main" id="{4F2C331D-B958-C2EA-2CFE-4170A686D2C8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18" name="Straight Connector 1117">
                  <a:extLst>
                    <a:ext uri="{FF2B5EF4-FFF2-40B4-BE49-F238E27FC236}">
                      <a16:creationId xmlns:a16="http://schemas.microsoft.com/office/drawing/2014/main" id="{7D9E2767-80DA-484E-A7EB-9C2142E1A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9" name="Straight Connector 1118">
                  <a:extLst>
                    <a:ext uri="{FF2B5EF4-FFF2-40B4-BE49-F238E27FC236}">
                      <a16:creationId xmlns:a16="http://schemas.microsoft.com/office/drawing/2014/main" id="{F1C28B3C-F828-DF36-8FFB-929B95834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0" name="Straight Connector 1119">
                  <a:extLst>
                    <a:ext uri="{FF2B5EF4-FFF2-40B4-BE49-F238E27FC236}">
                      <a16:creationId xmlns:a16="http://schemas.microsoft.com/office/drawing/2014/main" id="{08A4CB2E-8B40-489B-B546-DACA577964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1" name="Straight Connector 1120">
                  <a:extLst>
                    <a:ext uri="{FF2B5EF4-FFF2-40B4-BE49-F238E27FC236}">
                      <a16:creationId xmlns:a16="http://schemas.microsoft.com/office/drawing/2014/main" id="{A334DED9-6FDB-97B1-DE6C-E7723FC8B1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A4635F7C-24FB-793D-139C-DE454134E0FB}"/>
                </a:ext>
              </a:extLst>
            </p:cNvPr>
            <p:cNvGrpSpPr/>
            <p:nvPr/>
          </p:nvGrpSpPr>
          <p:grpSpPr>
            <a:xfrm>
              <a:off x="1834236" y="3263835"/>
              <a:ext cx="630567" cy="139855"/>
              <a:chOff x="2961915" y="1085141"/>
              <a:chExt cx="630567" cy="139855"/>
            </a:xfrm>
          </p:grpSpPr>
          <p:sp>
            <p:nvSpPr>
              <p:cNvPr id="1097" name="Isosceles Triangle 1096">
                <a:extLst>
                  <a:ext uri="{FF2B5EF4-FFF2-40B4-BE49-F238E27FC236}">
                    <a16:creationId xmlns:a16="http://schemas.microsoft.com/office/drawing/2014/main" id="{C00713D7-E658-47BF-B541-260FC82D65C2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563DFC13-53AC-19B2-BD46-C56C79EF3819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9" name="Isosceles Triangle 1098">
                <a:extLst>
                  <a:ext uri="{FF2B5EF4-FFF2-40B4-BE49-F238E27FC236}">
                    <a16:creationId xmlns:a16="http://schemas.microsoft.com/office/drawing/2014/main" id="{13CF5B50-8660-0B15-63C9-70EF0BF208A9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00" name="Group 1099">
                <a:extLst>
                  <a:ext uri="{FF2B5EF4-FFF2-40B4-BE49-F238E27FC236}">
                    <a16:creationId xmlns:a16="http://schemas.microsoft.com/office/drawing/2014/main" id="{F967029F-0AF3-3102-9C17-71128EF8E9AC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107" name="Rectangle 1106">
                  <a:extLst>
                    <a:ext uri="{FF2B5EF4-FFF2-40B4-BE49-F238E27FC236}">
                      <a16:creationId xmlns:a16="http://schemas.microsoft.com/office/drawing/2014/main" id="{8A197BEC-4320-5C3A-EF64-4E6E2708EC00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08" name="Straight Connector 1107">
                  <a:extLst>
                    <a:ext uri="{FF2B5EF4-FFF2-40B4-BE49-F238E27FC236}">
                      <a16:creationId xmlns:a16="http://schemas.microsoft.com/office/drawing/2014/main" id="{5D9C40BB-CD0C-6F88-23CE-24FCD920D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9" name="Straight Connector 1108">
                  <a:extLst>
                    <a:ext uri="{FF2B5EF4-FFF2-40B4-BE49-F238E27FC236}">
                      <a16:creationId xmlns:a16="http://schemas.microsoft.com/office/drawing/2014/main" id="{80BA451A-953E-5BF2-08A5-144E2C1D9D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0" name="Straight Connector 1109">
                  <a:extLst>
                    <a:ext uri="{FF2B5EF4-FFF2-40B4-BE49-F238E27FC236}">
                      <a16:creationId xmlns:a16="http://schemas.microsoft.com/office/drawing/2014/main" id="{79D4C8B3-D5B7-C77C-4EAA-2AB4B69DAE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1" name="Straight Connector 1110">
                  <a:extLst>
                    <a:ext uri="{FF2B5EF4-FFF2-40B4-BE49-F238E27FC236}">
                      <a16:creationId xmlns:a16="http://schemas.microsoft.com/office/drawing/2014/main" id="{9F199578-E831-A36A-8243-5E96EDAA14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1" name="Group 1100">
                <a:extLst>
                  <a:ext uri="{FF2B5EF4-FFF2-40B4-BE49-F238E27FC236}">
                    <a16:creationId xmlns:a16="http://schemas.microsoft.com/office/drawing/2014/main" id="{E9AFFA7D-AF0D-B399-4642-A1FA2FFAC62F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1102" name="Rectangle 1101">
                  <a:extLst>
                    <a:ext uri="{FF2B5EF4-FFF2-40B4-BE49-F238E27FC236}">
                      <a16:creationId xmlns:a16="http://schemas.microsoft.com/office/drawing/2014/main" id="{348FBCB0-39B0-0B77-3CE5-34C4A056F690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03" name="Straight Connector 1102">
                  <a:extLst>
                    <a:ext uri="{FF2B5EF4-FFF2-40B4-BE49-F238E27FC236}">
                      <a16:creationId xmlns:a16="http://schemas.microsoft.com/office/drawing/2014/main" id="{5DCB959D-2088-76B5-B33C-F075F96533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4" name="Straight Connector 1103">
                  <a:extLst>
                    <a:ext uri="{FF2B5EF4-FFF2-40B4-BE49-F238E27FC236}">
                      <a16:creationId xmlns:a16="http://schemas.microsoft.com/office/drawing/2014/main" id="{BA97A1C6-8DB8-2CBF-388F-001197126C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5" name="Straight Connector 1104">
                  <a:extLst>
                    <a:ext uri="{FF2B5EF4-FFF2-40B4-BE49-F238E27FC236}">
                      <a16:creationId xmlns:a16="http://schemas.microsoft.com/office/drawing/2014/main" id="{8FAA9350-FB8E-5EF5-566E-660B3EBBF4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6" name="Straight Connector 1105">
                  <a:extLst>
                    <a:ext uri="{FF2B5EF4-FFF2-40B4-BE49-F238E27FC236}">
                      <a16:creationId xmlns:a16="http://schemas.microsoft.com/office/drawing/2014/main" id="{6663B922-BE36-630C-FE89-E421E15D3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8C346EEC-2684-9C32-9637-1FFDAD2452AE}"/>
                </a:ext>
              </a:extLst>
            </p:cNvPr>
            <p:cNvGrpSpPr/>
            <p:nvPr/>
          </p:nvGrpSpPr>
          <p:grpSpPr>
            <a:xfrm>
              <a:off x="2614878" y="2140362"/>
              <a:ext cx="630567" cy="139855"/>
              <a:chOff x="2961915" y="1085141"/>
              <a:chExt cx="630567" cy="139855"/>
            </a:xfrm>
          </p:grpSpPr>
          <p:sp>
            <p:nvSpPr>
              <p:cNvPr id="378" name="Isosceles Triangle 377">
                <a:extLst>
                  <a:ext uri="{FF2B5EF4-FFF2-40B4-BE49-F238E27FC236}">
                    <a16:creationId xmlns:a16="http://schemas.microsoft.com/office/drawing/2014/main" id="{5926A6E8-3E78-E4A3-27CC-5019FE3613E3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98A12BC4-E182-4BF6-F0C2-B32F538E71A8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0" name="Isosceles Triangle 379">
                <a:extLst>
                  <a:ext uri="{FF2B5EF4-FFF2-40B4-BE49-F238E27FC236}">
                    <a16:creationId xmlns:a16="http://schemas.microsoft.com/office/drawing/2014/main" id="{87775EFE-BDD2-35D6-6F3A-13D633F5697A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3260FBA7-FF50-6481-9694-7CC59983FAEA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1092" name="Rectangle 1091">
                  <a:extLst>
                    <a:ext uri="{FF2B5EF4-FFF2-40B4-BE49-F238E27FC236}">
                      <a16:creationId xmlns:a16="http://schemas.microsoft.com/office/drawing/2014/main" id="{0CCEE374-2318-E072-621D-17862113E3FF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93" name="Straight Connector 1092">
                  <a:extLst>
                    <a:ext uri="{FF2B5EF4-FFF2-40B4-BE49-F238E27FC236}">
                      <a16:creationId xmlns:a16="http://schemas.microsoft.com/office/drawing/2014/main" id="{9579A493-3AF9-358D-65C5-316B90047D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4" name="Straight Connector 1093">
                  <a:extLst>
                    <a:ext uri="{FF2B5EF4-FFF2-40B4-BE49-F238E27FC236}">
                      <a16:creationId xmlns:a16="http://schemas.microsoft.com/office/drawing/2014/main" id="{7DB20B7E-C697-C7DF-74F4-DEAD132EFA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5" name="Straight Connector 1094">
                  <a:extLst>
                    <a:ext uri="{FF2B5EF4-FFF2-40B4-BE49-F238E27FC236}">
                      <a16:creationId xmlns:a16="http://schemas.microsoft.com/office/drawing/2014/main" id="{99B5D3C6-0DFC-F87C-E248-9F82AF93C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6" name="Straight Connector 1095">
                  <a:extLst>
                    <a:ext uri="{FF2B5EF4-FFF2-40B4-BE49-F238E27FC236}">
                      <a16:creationId xmlns:a16="http://schemas.microsoft.com/office/drawing/2014/main" id="{021EFEAE-57F7-BF2A-38D5-9D13099D1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2" name="Group 381">
                <a:extLst>
                  <a:ext uri="{FF2B5EF4-FFF2-40B4-BE49-F238E27FC236}">
                    <a16:creationId xmlns:a16="http://schemas.microsoft.com/office/drawing/2014/main" id="{17E9C7B2-2AAA-2ACC-64E5-7C7F2A30A51A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C49FD95F-35BC-7C5D-9C55-32B66C258013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88" name="Straight Connector 1087">
                  <a:extLst>
                    <a:ext uri="{FF2B5EF4-FFF2-40B4-BE49-F238E27FC236}">
                      <a16:creationId xmlns:a16="http://schemas.microsoft.com/office/drawing/2014/main" id="{D0652A60-7552-5094-336A-65C5E3F1B9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9" name="Straight Connector 1088">
                  <a:extLst>
                    <a:ext uri="{FF2B5EF4-FFF2-40B4-BE49-F238E27FC236}">
                      <a16:creationId xmlns:a16="http://schemas.microsoft.com/office/drawing/2014/main" id="{685161B5-037B-FDF4-80F2-1BBECDF2A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0" name="Straight Connector 1089">
                  <a:extLst>
                    <a:ext uri="{FF2B5EF4-FFF2-40B4-BE49-F238E27FC236}">
                      <a16:creationId xmlns:a16="http://schemas.microsoft.com/office/drawing/2014/main" id="{E6D44959-5E58-8F04-3ECC-93F0171FD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1" name="Straight Connector 1090">
                  <a:extLst>
                    <a:ext uri="{FF2B5EF4-FFF2-40B4-BE49-F238E27FC236}">
                      <a16:creationId xmlns:a16="http://schemas.microsoft.com/office/drawing/2014/main" id="{F1358DE8-5FC8-140E-6710-D9FFE10AE8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1F7B7BEF-8D48-68F7-CC84-FA6397B3B3DC}"/>
                </a:ext>
              </a:extLst>
            </p:cNvPr>
            <p:cNvGrpSpPr/>
            <p:nvPr/>
          </p:nvGrpSpPr>
          <p:grpSpPr>
            <a:xfrm>
              <a:off x="2617243" y="2527310"/>
              <a:ext cx="630567" cy="139855"/>
              <a:chOff x="2961915" y="1085141"/>
              <a:chExt cx="630567" cy="139855"/>
            </a:xfrm>
          </p:grpSpPr>
          <p:sp>
            <p:nvSpPr>
              <p:cNvPr id="363" name="Isosceles Triangle 362">
                <a:extLst>
                  <a:ext uri="{FF2B5EF4-FFF2-40B4-BE49-F238E27FC236}">
                    <a16:creationId xmlns:a16="http://schemas.microsoft.com/office/drawing/2014/main" id="{ECA21E04-F535-A124-AE4A-0A54CEF4300A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D91BD98E-C388-0654-1FBE-85B97C468B4F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5" name="Isosceles Triangle 364">
                <a:extLst>
                  <a:ext uri="{FF2B5EF4-FFF2-40B4-BE49-F238E27FC236}">
                    <a16:creationId xmlns:a16="http://schemas.microsoft.com/office/drawing/2014/main" id="{61FBE6A9-9444-F294-8267-C2947D45202F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45AC34A9-7477-D5C2-51B5-8350DA825C3B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24788E74-1D19-AD12-633B-B96B4299574F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446493AF-10AA-D9CB-2EC4-605377E518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BD972F91-5C5C-8307-98B7-E6AC8DDA11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EE18F9BD-5196-0285-9101-CFB41D4990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457D6C78-C8A6-5F53-92FE-64AB47AA0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5A7C8A27-CACA-CB09-DA37-9629092704D1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368" name="Rectangle 367">
                  <a:extLst>
                    <a:ext uri="{FF2B5EF4-FFF2-40B4-BE49-F238E27FC236}">
                      <a16:creationId xmlns:a16="http://schemas.microsoft.com/office/drawing/2014/main" id="{83A96FC2-783E-D7BE-80DE-302445D4AAEF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63ED8CDD-BF15-2869-91AE-01F17E930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4735D8B7-B579-5AB9-43A4-8B49C620C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24EA228F-8E8A-E2AE-76D9-916935AB95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7E9DBF09-39DE-0B2D-B091-E00C10DF29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0D474425-E834-BE08-8BC2-69F18DC9B598}"/>
                </a:ext>
              </a:extLst>
            </p:cNvPr>
            <p:cNvGrpSpPr/>
            <p:nvPr/>
          </p:nvGrpSpPr>
          <p:grpSpPr>
            <a:xfrm>
              <a:off x="2614878" y="2868795"/>
              <a:ext cx="630567" cy="139855"/>
              <a:chOff x="2961915" y="1085141"/>
              <a:chExt cx="630567" cy="139855"/>
            </a:xfrm>
          </p:grpSpPr>
          <p:sp>
            <p:nvSpPr>
              <p:cNvPr id="348" name="Isosceles Triangle 347">
                <a:extLst>
                  <a:ext uri="{FF2B5EF4-FFF2-40B4-BE49-F238E27FC236}">
                    <a16:creationId xmlns:a16="http://schemas.microsoft.com/office/drawing/2014/main" id="{8B202D4E-30BE-384E-AF89-2E0F3E346ED9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A09C840F-843E-4DC0-560F-5B30756F757F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0" name="Isosceles Triangle 349">
                <a:extLst>
                  <a:ext uri="{FF2B5EF4-FFF2-40B4-BE49-F238E27FC236}">
                    <a16:creationId xmlns:a16="http://schemas.microsoft.com/office/drawing/2014/main" id="{913CEEC3-3C3D-BC80-9F45-A9A57C4BB9BA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211163D7-FE80-0F0B-5EAE-B41A651D3E8B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358" name="Rectangle 357">
                  <a:extLst>
                    <a:ext uri="{FF2B5EF4-FFF2-40B4-BE49-F238E27FC236}">
                      <a16:creationId xmlns:a16="http://schemas.microsoft.com/office/drawing/2014/main" id="{CF86F3B6-0D4D-03FE-1CC4-78BCF6F25B7F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9" name="Straight Connector 358">
                  <a:extLst>
                    <a:ext uri="{FF2B5EF4-FFF2-40B4-BE49-F238E27FC236}">
                      <a16:creationId xmlns:a16="http://schemas.microsoft.com/office/drawing/2014/main" id="{7DD8FB87-F1AE-0C80-200E-3E5A197B4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56F795C2-EAAE-F5EF-8336-4C0C6419CB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4287F01E-8C52-0BDA-2738-BADEF6ED74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Straight Connector 361">
                  <a:extLst>
                    <a:ext uri="{FF2B5EF4-FFF2-40B4-BE49-F238E27FC236}">
                      <a16:creationId xmlns:a16="http://schemas.microsoft.com/office/drawing/2014/main" id="{FED394FF-4A46-E97F-EEEF-33817FF021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2" name="Group 351">
                <a:extLst>
                  <a:ext uri="{FF2B5EF4-FFF2-40B4-BE49-F238E27FC236}">
                    <a16:creationId xmlns:a16="http://schemas.microsoft.com/office/drawing/2014/main" id="{A71DAABC-83BB-C7FA-232E-67C6A7A5F89E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353" name="Rectangle 352">
                  <a:extLst>
                    <a:ext uri="{FF2B5EF4-FFF2-40B4-BE49-F238E27FC236}">
                      <a16:creationId xmlns:a16="http://schemas.microsoft.com/office/drawing/2014/main" id="{71AC3BA2-5F3A-0C2D-E8E1-C01C2FB94E6E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4" name="Straight Connector 353">
                  <a:extLst>
                    <a:ext uri="{FF2B5EF4-FFF2-40B4-BE49-F238E27FC236}">
                      <a16:creationId xmlns:a16="http://schemas.microsoft.com/office/drawing/2014/main" id="{755AE860-8C35-36CA-B8F1-F9B1A1907F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Straight Connector 354">
                  <a:extLst>
                    <a:ext uri="{FF2B5EF4-FFF2-40B4-BE49-F238E27FC236}">
                      <a16:creationId xmlns:a16="http://schemas.microsoft.com/office/drawing/2014/main" id="{0B693626-9CE7-70AA-0AEF-52CB0895BA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5CD898F7-4FB0-56DE-F465-04FFED6B2B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66C10DC3-2116-A934-D089-7E99754E8D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90559004-481A-2A83-2F89-976F9CA6E141}"/>
                </a:ext>
              </a:extLst>
            </p:cNvPr>
            <p:cNvGrpSpPr/>
            <p:nvPr/>
          </p:nvGrpSpPr>
          <p:grpSpPr>
            <a:xfrm>
              <a:off x="2617243" y="3255743"/>
              <a:ext cx="630567" cy="139855"/>
              <a:chOff x="2961915" y="1085141"/>
              <a:chExt cx="630567" cy="139855"/>
            </a:xfrm>
          </p:grpSpPr>
          <p:sp>
            <p:nvSpPr>
              <p:cNvPr id="328" name="Isosceles Triangle 327">
                <a:extLst>
                  <a:ext uri="{FF2B5EF4-FFF2-40B4-BE49-F238E27FC236}">
                    <a16:creationId xmlns:a16="http://schemas.microsoft.com/office/drawing/2014/main" id="{86A5AA10-CB78-AFDA-BA38-09356DD03242}"/>
                  </a:ext>
                </a:extLst>
              </p:cNvPr>
              <p:cNvSpPr/>
              <p:nvPr/>
            </p:nvSpPr>
            <p:spPr>
              <a:xfrm rot="5400000">
                <a:off x="3049398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1BA15ABC-7D43-0025-E329-5D26637E627A}"/>
                  </a:ext>
                </a:extLst>
              </p:cNvPr>
              <p:cNvCxnSpPr/>
              <p:nvPr/>
            </p:nvCxnSpPr>
            <p:spPr>
              <a:xfrm>
                <a:off x="3137184" y="1156179"/>
                <a:ext cx="284761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0" name="Isosceles Triangle 329">
                <a:extLst>
                  <a:ext uri="{FF2B5EF4-FFF2-40B4-BE49-F238E27FC236}">
                    <a16:creationId xmlns:a16="http://schemas.microsoft.com/office/drawing/2014/main" id="{E34F997F-F74D-62D2-B0BE-C5B591FBF417}"/>
                  </a:ext>
                </a:extLst>
              </p:cNvPr>
              <p:cNvSpPr/>
              <p:nvPr/>
            </p:nvSpPr>
            <p:spPr>
              <a:xfrm rot="16200000" flipH="1">
                <a:off x="3372094" y="1094063"/>
                <a:ext cx="137637" cy="123851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B894198A-6591-112E-6731-93BCB210ED57}"/>
                  </a:ext>
                </a:extLst>
              </p:cNvPr>
              <p:cNvGrpSpPr/>
              <p:nvPr/>
            </p:nvGrpSpPr>
            <p:grpSpPr>
              <a:xfrm>
                <a:off x="3489472" y="1087170"/>
                <a:ext cx="103010" cy="137826"/>
                <a:chOff x="3489472" y="1087170"/>
                <a:chExt cx="103010" cy="137826"/>
              </a:xfrm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497B5B16-470E-1C80-33DF-B3D5FBA1ACB4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660024B5-2614-DE0A-0CC5-EE3994CB29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7021E5EE-90AF-6115-7E82-210EB640D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90A1CAB4-A9FD-5D29-AC99-EA8FD7E1AD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ECB88B6B-1A58-E733-7784-AEA3782B40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8B8238DE-39F6-5278-81F9-1A41EF098F78}"/>
                  </a:ext>
                </a:extLst>
              </p:cNvPr>
              <p:cNvGrpSpPr/>
              <p:nvPr/>
            </p:nvGrpSpPr>
            <p:grpSpPr>
              <a:xfrm>
                <a:off x="2961915" y="1085141"/>
                <a:ext cx="103010" cy="137826"/>
                <a:chOff x="3489472" y="1087170"/>
                <a:chExt cx="103010" cy="137826"/>
              </a:xfrm>
            </p:grpSpPr>
            <p:sp>
              <p:nvSpPr>
                <p:cNvPr id="338" name="Rectangle 337">
                  <a:extLst>
                    <a:ext uri="{FF2B5EF4-FFF2-40B4-BE49-F238E27FC236}">
                      <a16:creationId xmlns:a16="http://schemas.microsoft.com/office/drawing/2014/main" id="{8C17826C-E9F0-09F1-BE0E-80963938473F}"/>
                    </a:ext>
                  </a:extLst>
                </p:cNvPr>
                <p:cNvSpPr/>
                <p:nvPr/>
              </p:nvSpPr>
              <p:spPr>
                <a:xfrm>
                  <a:off x="3489472" y="1087170"/>
                  <a:ext cx="103010" cy="13763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EE30AB95-BE5E-93AA-222F-0A003DA53C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838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E7412CD4-7685-A198-A490-1831A32D93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6370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F2A4FC7E-5D90-904D-8DE3-33789E71C6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9902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BC344264-7FA1-79B4-A544-310B66E5B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3433" y="1087361"/>
                  <a:ext cx="0" cy="13763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1229" name="Picture 1228">
            <a:extLst>
              <a:ext uri="{FF2B5EF4-FFF2-40B4-BE49-F238E27FC236}">
                <a16:creationId xmlns:a16="http://schemas.microsoft.com/office/drawing/2014/main" id="{CF92284D-EFA8-D0F9-E2EA-7B6D58811C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0385" y="23475468"/>
            <a:ext cx="2126503" cy="2851138"/>
          </a:xfrm>
          <a:prstGeom prst="rect">
            <a:avLst/>
          </a:prstGeom>
        </p:spPr>
      </p:pic>
      <p:pic>
        <p:nvPicPr>
          <p:cNvPr id="1230" name="Picture 1229">
            <a:extLst>
              <a:ext uri="{FF2B5EF4-FFF2-40B4-BE49-F238E27FC236}">
                <a16:creationId xmlns:a16="http://schemas.microsoft.com/office/drawing/2014/main" id="{2968F010-8FA9-41D9-5302-D03DFE9E00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2340" y="23505059"/>
            <a:ext cx="2962563" cy="2962563"/>
          </a:xfrm>
          <a:prstGeom prst="rect">
            <a:avLst/>
          </a:prstGeom>
        </p:spPr>
      </p:pic>
      <p:sp>
        <p:nvSpPr>
          <p:cNvPr id="1232" name="TextBox 1231">
            <a:extLst>
              <a:ext uri="{FF2B5EF4-FFF2-40B4-BE49-F238E27FC236}">
                <a16:creationId xmlns:a16="http://schemas.microsoft.com/office/drawing/2014/main" id="{2529C55A-2416-639F-F4DC-533845D56173}"/>
              </a:ext>
            </a:extLst>
          </p:cNvPr>
          <p:cNvSpPr txBox="1"/>
          <p:nvPr/>
        </p:nvSpPr>
        <p:spPr>
          <a:xfrm>
            <a:off x="443307" y="26526087"/>
            <a:ext cx="35615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Waveguide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Flat substrate with mirror coating.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SiO</a:t>
            </a:r>
            <a:r>
              <a:rPr lang="en-US" sz="2200" baseline="-25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cladding and Ta</a:t>
            </a:r>
            <a:r>
              <a:rPr lang="en-US" sz="2200" baseline="-25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US" sz="2200" baseline="-25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waveguide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Pattern/etch waveguides, couplers, etc.</a:t>
            </a:r>
          </a:p>
          <a:p>
            <a:pPr algn="ctr"/>
            <a:endPara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3A329275-D3FD-EF64-4255-2F42FA4DB856}"/>
              </a:ext>
            </a:extLst>
          </p:cNvPr>
          <p:cNvSpPr txBox="1"/>
          <p:nvPr/>
        </p:nvSpPr>
        <p:spPr>
          <a:xfrm>
            <a:off x="4495643" y="26510029"/>
            <a:ext cx="3418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Spacer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Slots etched through substrate.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A4174A8D-06E4-E8B0-3796-50BD912536A6}"/>
              </a:ext>
            </a:extLst>
          </p:cNvPr>
          <p:cNvSpPr txBox="1"/>
          <p:nvPr/>
        </p:nvSpPr>
        <p:spPr>
          <a:xfrm>
            <a:off x="8404986" y="26651005"/>
            <a:ext cx="499241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Mirror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Greyscale lithography with reflow to make micro curved mirrors [1].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Coat with mirror layer.</a:t>
            </a:r>
          </a:p>
          <a:p>
            <a:pPr algn="ctr"/>
            <a:endParaRPr lang="en-US" sz="2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240" name="Picture 35">
            <a:extLst>
              <a:ext uri="{FF2B5EF4-FFF2-40B4-BE49-F238E27FC236}">
                <a16:creationId xmlns:a16="http://schemas.microsoft.com/office/drawing/2014/main" id="{5D40F130-951A-4EF6-F468-E2CC7523C1B1}"/>
              </a:ext>
            </a:extLst>
          </p:cNvPr>
          <p:cNvGrpSpPr/>
          <p:nvPr/>
        </p:nvGrpSpPr>
        <p:grpSpPr>
          <a:xfrm>
            <a:off x="31398" y="29577066"/>
            <a:ext cx="9871073" cy="3731905"/>
            <a:chOff x="15848453" y="27079126"/>
            <a:chExt cx="9871073" cy="3731905"/>
          </a:xfrm>
        </p:grpSpPr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99E7E2C0-DB8A-6BAB-D085-E93DEA85A102}"/>
                </a:ext>
              </a:extLst>
            </p:cNvPr>
            <p:cNvSpPr/>
            <p:nvPr/>
          </p:nvSpPr>
          <p:spPr>
            <a:xfrm rot="10800000" flipV="1">
              <a:off x="19323081" y="27404820"/>
              <a:ext cx="3596200" cy="447829"/>
            </a:xfrm>
            <a:custGeom>
              <a:avLst/>
              <a:gdLst>
                <a:gd name="connsiteX0" fmla="*/ 2416761 w 3596200"/>
                <a:gd name="connsiteY0" fmla="*/ 446946 h 447829"/>
                <a:gd name="connsiteX1" fmla="*/ 2731462 w 3596200"/>
                <a:gd name="connsiteY1" fmla="*/ 164317 h 447829"/>
                <a:gd name="connsiteX2" fmla="*/ 2740677 w 3596200"/>
                <a:gd name="connsiteY2" fmla="*/ 159415 h 447829"/>
                <a:gd name="connsiteX3" fmla="*/ 3596450 w 3596200"/>
                <a:gd name="connsiteY3" fmla="*/ 159415 h 447829"/>
                <a:gd name="connsiteX4" fmla="*/ 3596450 w 3596200"/>
                <a:gd name="connsiteY4" fmla="*/ 25 h 447829"/>
                <a:gd name="connsiteX5" fmla="*/ 250 w 3596200"/>
                <a:gd name="connsiteY5" fmla="*/ 25 h 447829"/>
                <a:gd name="connsiteX6" fmla="*/ 250 w 3596200"/>
                <a:gd name="connsiteY6" fmla="*/ 159415 h 447829"/>
                <a:gd name="connsiteX7" fmla="*/ 876626 w 3596200"/>
                <a:gd name="connsiteY7" fmla="*/ 159415 h 447829"/>
                <a:gd name="connsiteX8" fmla="*/ 881690 w 3596200"/>
                <a:gd name="connsiteY8" fmla="*/ 162110 h 447829"/>
                <a:gd name="connsiteX9" fmla="*/ 1196391 w 3596200"/>
                <a:gd name="connsiteY9" fmla="*/ 444741 h 447829"/>
                <a:gd name="connsiteX10" fmla="*/ 1415728 w 3596200"/>
                <a:gd name="connsiteY10" fmla="*/ 370006 h 447829"/>
                <a:gd name="connsiteX11" fmla="*/ 1465939 w 3596200"/>
                <a:gd name="connsiteY11" fmla="*/ 340259 h 447829"/>
                <a:gd name="connsiteX12" fmla="*/ 1477447 w 3596200"/>
                <a:gd name="connsiteY12" fmla="*/ 330050 h 447829"/>
                <a:gd name="connsiteX13" fmla="*/ 1798350 w 3596200"/>
                <a:gd name="connsiteY13" fmla="*/ 232695 h 447829"/>
                <a:gd name="connsiteX14" fmla="*/ 2052093 w 3596200"/>
                <a:gd name="connsiteY14" fmla="*/ 289462 h 447829"/>
                <a:gd name="connsiteX15" fmla="*/ 2073724 w 3596200"/>
                <a:gd name="connsiteY15" fmla="*/ 302533 h 447829"/>
                <a:gd name="connsiteX16" fmla="*/ 2079655 w 3596200"/>
                <a:gd name="connsiteY16" fmla="*/ 302533 h 447829"/>
                <a:gd name="connsiteX17" fmla="*/ 2081880 w 3596200"/>
                <a:gd name="connsiteY17" fmla="*/ 303763 h 447829"/>
                <a:gd name="connsiteX18" fmla="*/ 2416761 w 3596200"/>
                <a:gd name="connsiteY18" fmla="*/ 446946 h 44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596200" h="447829">
                  <a:moveTo>
                    <a:pt x="2416761" y="446946"/>
                  </a:moveTo>
                  <a:cubicBezTo>
                    <a:pt x="2542384" y="432452"/>
                    <a:pt x="2645086" y="215770"/>
                    <a:pt x="2731462" y="164317"/>
                  </a:cubicBezTo>
                  <a:lnTo>
                    <a:pt x="2740677" y="159415"/>
                  </a:lnTo>
                  <a:lnTo>
                    <a:pt x="3596450" y="159415"/>
                  </a:lnTo>
                  <a:lnTo>
                    <a:pt x="3596450" y="25"/>
                  </a:lnTo>
                  <a:lnTo>
                    <a:pt x="250" y="25"/>
                  </a:lnTo>
                  <a:lnTo>
                    <a:pt x="250" y="159415"/>
                  </a:lnTo>
                  <a:lnTo>
                    <a:pt x="876626" y="159415"/>
                  </a:lnTo>
                  <a:lnTo>
                    <a:pt x="881690" y="162110"/>
                  </a:lnTo>
                  <a:cubicBezTo>
                    <a:pt x="968077" y="213565"/>
                    <a:pt x="1070775" y="430247"/>
                    <a:pt x="1196391" y="444741"/>
                  </a:cubicBezTo>
                  <a:cubicBezTo>
                    <a:pt x="1259200" y="451986"/>
                    <a:pt x="1337433" y="414847"/>
                    <a:pt x="1415728" y="370006"/>
                  </a:cubicBezTo>
                  <a:lnTo>
                    <a:pt x="1465939" y="340259"/>
                  </a:lnTo>
                  <a:lnTo>
                    <a:pt x="1477447" y="330050"/>
                  </a:lnTo>
                  <a:cubicBezTo>
                    <a:pt x="1559576" y="269900"/>
                    <a:pt x="1673026" y="232695"/>
                    <a:pt x="1798350" y="232695"/>
                  </a:cubicBezTo>
                  <a:cubicBezTo>
                    <a:pt x="1892340" y="232695"/>
                    <a:pt x="1979666" y="253622"/>
                    <a:pt x="2052093" y="289462"/>
                  </a:cubicBezTo>
                  <a:lnTo>
                    <a:pt x="2073724" y="302533"/>
                  </a:lnTo>
                  <a:lnTo>
                    <a:pt x="2079655" y="302533"/>
                  </a:lnTo>
                  <a:lnTo>
                    <a:pt x="2081880" y="303763"/>
                  </a:lnTo>
                  <a:cubicBezTo>
                    <a:pt x="2193634" y="368816"/>
                    <a:pt x="2322554" y="457816"/>
                    <a:pt x="2416761" y="446946"/>
                  </a:cubicBezTo>
                  <a:close/>
                </a:path>
              </a:pathLst>
            </a:custGeom>
            <a:solidFill>
              <a:srgbClr val="BFBFB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97B3B34-F1A7-A183-EAA7-F2AFA44A7DFF}"/>
                </a:ext>
              </a:extLst>
            </p:cNvPr>
            <p:cNvSpPr/>
            <p:nvPr/>
          </p:nvSpPr>
          <p:spPr>
            <a:xfrm>
              <a:off x="22240753" y="28861633"/>
              <a:ext cx="759951" cy="203558"/>
            </a:xfrm>
            <a:custGeom>
              <a:avLst/>
              <a:gdLst>
                <a:gd name="connsiteX0" fmla="*/ -6 w 759951"/>
                <a:gd name="connsiteY0" fmla="*/ -44 h 203558"/>
                <a:gd name="connsiteX1" fmla="*/ 759946 w 759951"/>
                <a:gd name="connsiteY1" fmla="*/ -44 h 203558"/>
                <a:gd name="connsiteX2" fmla="*/ 759946 w 759951"/>
                <a:gd name="connsiteY2" fmla="*/ 203514 h 203558"/>
                <a:gd name="connsiteX3" fmla="*/ -6 w 759951"/>
                <a:gd name="connsiteY3" fmla="*/ 203514 h 203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9951" h="203558">
                  <a:moveTo>
                    <a:pt x="-6" y="-44"/>
                  </a:moveTo>
                  <a:lnTo>
                    <a:pt x="759946" y="-44"/>
                  </a:lnTo>
                  <a:lnTo>
                    <a:pt x="759946" y="203514"/>
                  </a:lnTo>
                  <a:lnTo>
                    <a:pt x="-6" y="203514"/>
                  </a:lnTo>
                  <a:close/>
                </a:path>
              </a:pathLst>
            </a:custGeom>
            <a:solidFill>
              <a:srgbClr val="A6A6A6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18F9C72B-EA8E-CF75-14E4-4140C4E8F2DF}"/>
                </a:ext>
              </a:extLst>
            </p:cNvPr>
            <p:cNvSpPr/>
            <p:nvPr/>
          </p:nvSpPr>
          <p:spPr>
            <a:xfrm rot="10800000" flipV="1">
              <a:off x="19323081" y="27241973"/>
              <a:ext cx="3596200" cy="447829"/>
            </a:xfrm>
            <a:custGeom>
              <a:avLst/>
              <a:gdLst>
                <a:gd name="connsiteX0" fmla="*/ 2416761 w 3596200"/>
                <a:gd name="connsiteY0" fmla="*/ 446934 h 447829"/>
                <a:gd name="connsiteX1" fmla="*/ 2731462 w 3596200"/>
                <a:gd name="connsiteY1" fmla="*/ 164305 h 447829"/>
                <a:gd name="connsiteX2" fmla="*/ 2740677 w 3596200"/>
                <a:gd name="connsiteY2" fmla="*/ 159403 h 447829"/>
                <a:gd name="connsiteX3" fmla="*/ 3596450 w 3596200"/>
                <a:gd name="connsiteY3" fmla="*/ 159403 h 447829"/>
                <a:gd name="connsiteX4" fmla="*/ 3596450 w 3596200"/>
                <a:gd name="connsiteY4" fmla="*/ 13 h 447829"/>
                <a:gd name="connsiteX5" fmla="*/ 250 w 3596200"/>
                <a:gd name="connsiteY5" fmla="*/ 13 h 447829"/>
                <a:gd name="connsiteX6" fmla="*/ 250 w 3596200"/>
                <a:gd name="connsiteY6" fmla="*/ 159403 h 447829"/>
                <a:gd name="connsiteX7" fmla="*/ 876626 w 3596200"/>
                <a:gd name="connsiteY7" fmla="*/ 159403 h 447829"/>
                <a:gd name="connsiteX8" fmla="*/ 881690 w 3596200"/>
                <a:gd name="connsiteY8" fmla="*/ 162098 h 447829"/>
                <a:gd name="connsiteX9" fmla="*/ 1196391 w 3596200"/>
                <a:gd name="connsiteY9" fmla="*/ 444729 h 447829"/>
                <a:gd name="connsiteX10" fmla="*/ 1415728 w 3596200"/>
                <a:gd name="connsiteY10" fmla="*/ 369994 h 447829"/>
                <a:gd name="connsiteX11" fmla="*/ 1465939 w 3596200"/>
                <a:gd name="connsiteY11" fmla="*/ 340247 h 447829"/>
                <a:gd name="connsiteX12" fmla="*/ 1477447 w 3596200"/>
                <a:gd name="connsiteY12" fmla="*/ 330038 h 447829"/>
                <a:gd name="connsiteX13" fmla="*/ 1798350 w 3596200"/>
                <a:gd name="connsiteY13" fmla="*/ 232683 h 447829"/>
                <a:gd name="connsiteX14" fmla="*/ 2052093 w 3596200"/>
                <a:gd name="connsiteY14" fmla="*/ 289450 h 447829"/>
                <a:gd name="connsiteX15" fmla="*/ 2073724 w 3596200"/>
                <a:gd name="connsiteY15" fmla="*/ 302521 h 447829"/>
                <a:gd name="connsiteX16" fmla="*/ 2079655 w 3596200"/>
                <a:gd name="connsiteY16" fmla="*/ 302521 h 447829"/>
                <a:gd name="connsiteX17" fmla="*/ 2081880 w 3596200"/>
                <a:gd name="connsiteY17" fmla="*/ 303751 h 447829"/>
                <a:gd name="connsiteX18" fmla="*/ 2416761 w 3596200"/>
                <a:gd name="connsiteY18" fmla="*/ 446934 h 44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596200" h="447829">
                  <a:moveTo>
                    <a:pt x="2416761" y="446934"/>
                  </a:moveTo>
                  <a:cubicBezTo>
                    <a:pt x="2542384" y="432440"/>
                    <a:pt x="2645086" y="215758"/>
                    <a:pt x="2731462" y="164305"/>
                  </a:cubicBezTo>
                  <a:lnTo>
                    <a:pt x="2740677" y="159403"/>
                  </a:lnTo>
                  <a:lnTo>
                    <a:pt x="3596450" y="159403"/>
                  </a:lnTo>
                  <a:lnTo>
                    <a:pt x="3596450" y="13"/>
                  </a:lnTo>
                  <a:lnTo>
                    <a:pt x="250" y="13"/>
                  </a:lnTo>
                  <a:lnTo>
                    <a:pt x="250" y="159403"/>
                  </a:lnTo>
                  <a:lnTo>
                    <a:pt x="876626" y="159403"/>
                  </a:lnTo>
                  <a:lnTo>
                    <a:pt x="881690" y="162098"/>
                  </a:lnTo>
                  <a:cubicBezTo>
                    <a:pt x="968077" y="213553"/>
                    <a:pt x="1070775" y="430235"/>
                    <a:pt x="1196391" y="444729"/>
                  </a:cubicBezTo>
                  <a:cubicBezTo>
                    <a:pt x="1259200" y="451974"/>
                    <a:pt x="1337433" y="414835"/>
                    <a:pt x="1415728" y="369994"/>
                  </a:cubicBezTo>
                  <a:lnTo>
                    <a:pt x="1465939" y="340247"/>
                  </a:lnTo>
                  <a:lnTo>
                    <a:pt x="1477447" y="330038"/>
                  </a:lnTo>
                  <a:cubicBezTo>
                    <a:pt x="1559576" y="269888"/>
                    <a:pt x="1673026" y="232683"/>
                    <a:pt x="1798350" y="232683"/>
                  </a:cubicBezTo>
                  <a:cubicBezTo>
                    <a:pt x="1892340" y="232683"/>
                    <a:pt x="1979666" y="253610"/>
                    <a:pt x="2052093" y="289450"/>
                  </a:cubicBezTo>
                  <a:lnTo>
                    <a:pt x="2073724" y="302521"/>
                  </a:lnTo>
                  <a:lnTo>
                    <a:pt x="2079655" y="302521"/>
                  </a:lnTo>
                  <a:lnTo>
                    <a:pt x="2081880" y="303751"/>
                  </a:lnTo>
                  <a:cubicBezTo>
                    <a:pt x="2193634" y="368804"/>
                    <a:pt x="2322554" y="457804"/>
                    <a:pt x="2416761" y="446934"/>
                  </a:cubicBezTo>
                  <a:close/>
                </a:path>
              </a:pathLst>
            </a:custGeom>
            <a:solidFill>
              <a:srgbClr val="BFBFB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51A88744-68F6-DF7A-80BD-1A9B961C73CC}"/>
                </a:ext>
              </a:extLst>
            </p:cNvPr>
            <p:cNvSpPr/>
            <p:nvPr/>
          </p:nvSpPr>
          <p:spPr>
            <a:xfrm rot="10800000" flipV="1">
              <a:off x="19201893" y="27084604"/>
              <a:ext cx="3799758" cy="366405"/>
            </a:xfrm>
            <a:custGeom>
              <a:avLst/>
              <a:gdLst>
                <a:gd name="connsiteX0" fmla="*/ 243 w 3799758"/>
                <a:gd name="connsiteY0" fmla="*/ 0 h 366405"/>
                <a:gd name="connsiteX1" fmla="*/ 3800002 w 3799758"/>
                <a:gd name="connsiteY1" fmla="*/ 0 h 366405"/>
                <a:gd name="connsiteX2" fmla="*/ 3800002 w 3799758"/>
                <a:gd name="connsiteY2" fmla="*/ 366405 h 366405"/>
                <a:gd name="connsiteX3" fmla="*/ 243 w 3799758"/>
                <a:gd name="connsiteY3" fmla="*/ 366405 h 36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9758" h="366405">
                  <a:moveTo>
                    <a:pt x="243" y="0"/>
                  </a:moveTo>
                  <a:lnTo>
                    <a:pt x="3800002" y="0"/>
                  </a:lnTo>
                  <a:lnTo>
                    <a:pt x="3800002" y="366405"/>
                  </a:lnTo>
                  <a:lnTo>
                    <a:pt x="243" y="366405"/>
                  </a:lnTo>
                  <a:close/>
                </a:path>
              </a:pathLst>
            </a:custGeom>
            <a:solidFill>
              <a:srgbClr val="BFBFB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18E749D1-5D11-02F6-579A-1E9B7EBDA348}"/>
                </a:ext>
              </a:extLst>
            </p:cNvPr>
            <p:cNvSpPr/>
            <p:nvPr/>
          </p:nvSpPr>
          <p:spPr>
            <a:xfrm>
              <a:off x="16188279" y="29576110"/>
              <a:ext cx="6812424" cy="1234921"/>
            </a:xfrm>
            <a:custGeom>
              <a:avLst/>
              <a:gdLst>
                <a:gd name="connsiteX0" fmla="*/ -6 w 6812424"/>
                <a:gd name="connsiteY0" fmla="*/ -44 h 1234921"/>
                <a:gd name="connsiteX1" fmla="*/ 6812419 w 6812424"/>
                <a:gd name="connsiteY1" fmla="*/ -44 h 1234921"/>
                <a:gd name="connsiteX2" fmla="*/ 6812419 w 6812424"/>
                <a:gd name="connsiteY2" fmla="*/ 1234877 h 1234921"/>
                <a:gd name="connsiteX3" fmla="*/ -6 w 6812424"/>
                <a:gd name="connsiteY3" fmla="*/ 1234877 h 1234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12424" h="1234921">
                  <a:moveTo>
                    <a:pt x="-6" y="-44"/>
                  </a:moveTo>
                  <a:lnTo>
                    <a:pt x="6812419" y="-44"/>
                  </a:lnTo>
                  <a:lnTo>
                    <a:pt x="6812419" y="1234877"/>
                  </a:lnTo>
                  <a:lnTo>
                    <a:pt x="-6" y="1234877"/>
                  </a:lnTo>
                  <a:close/>
                </a:path>
              </a:pathLst>
            </a:custGeom>
            <a:solidFill>
              <a:srgbClr val="A6A6A6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6" name="TextBox 1245">
              <a:extLst>
                <a:ext uri="{FF2B5EF4-FFF2-40B4-BE49-F238E27FC236}">
                  <a16:creationId xmlns:a16="http://schemas.microsoft.com/office/drawing/2014/main" id="{3AD98F0E-86B5-639B-58D4-2F1085B183DA}"/>
                </a:ext>
              </a:extLst>
            </p:cNvPr>
            <p:cNvSpPr txBox="1"/>
            <p:nvPr/>
          </p:nvSpPr>
          <p:spPr>
            <a:xfrm>
              <a:off x="16698375" y="27698364"/>
              <a:ext cx="1092108" cy="4849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923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Purcell</a:t>
              </a:r>
            </a:p>
          </p:txBody>
        </p:sp>
        <p:sp>
          <p:nvSpPr>
            <p:cNvPr id="1247" name="TextBox 1246">
              <a:extLst>
                <a:ext uri="{FF2B5EF4-FFF2-40B4-BE49-F238E27FC236}">
                  <a16:creationId xmlns:a16="http://schemas.microsoft.com/office/drawing/2014/main" id="{A0B78914-FC9C-16DB-81E2-092E34ADD147}"/>
                </a:ext>
              </a:extLst>
            </p:cNvPr>
            <p:cNvSpPr txBox="1"/>
            <p:nvPr/>
          </p:nvSpPr>
          <p:spPr>
            <a:xfrm>
              <a:off x="17417932" y="27698364"/>
              <a:ext cx="277873" cy="4849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923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</a:t>
              </a:r>
            </a:p>
          </p:txBody>
        </p:sp>
        <p:sp>
          <p:nvSpPr>
            <p:cNvPr id="1248" name="TextBox 1247">
              <a:extLst>
                <a:ext uri="{FF2B5EF4-FFF2-40B4-BE49-F238E27FC236}">
                  <a16:creationId xmlns:a16="http://schemas.microsoft.com/office/drawing/2014/main" id="{42B6E533-D509-FA19-328E-99E78F6CB014}"/>
                </a:ext>
              </a:extLst>
            </p:cNvPr>
            <p:cNvSpPr txBox="1"/>
            <p:nvPr/>
          </p:nvSpPr>
          <p:spPr>
            <a:xfrm>
              <a:off x="17517459" y="27698364"/>
              <a:ext cx="1580648" cy="4849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923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Enhanced </a:t>
              </a:r>
            </a:p>
          </p:txBody>
        </p:sp>
        <p:sp>
          <p:nvSpPr>
            <p:cNvPr id="1249" name="TextBox 1248">
              <a:extLst>
                <a:ext uri="{FF2B5EF4-FFF2-40B4-BE49-F238E27FC236}">
                  <a16:creationId xmlns:a16="http://schemas.microsoft.com/office/drawing/2014/main" id="{6DDA260D-93A4-D94E-B0F1-6849B0125730}"/>
                </a:ext>
              </a:extLst>
            </p:cNvPr>
            <p:cNvSpPr txBox="1"/>
            <p:nvPr/>
          </p:nvSpPr>
          <p:spPr>
            <a:xfrm>
              <a:off x="16698375" y="28091910"/>
              <a:ext cx="2286317" cy="4849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923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Grating Coupler</a:t>
              </a: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03E8200A-4532-A217-55F7-8CC2BD861A44}"/>
                </a:ext>
              </a:extLst>
            </p:cNvPr>
            <p:cNvSpPr/>
            <p:nvPr/>
          </p:nvSpPr>
          <p:spPr>
            <a:xfrm>
              <a:off x="19103835" y="28153250"/>
              <a:ext cx="1343540" cy="668391"/>
            </a:xfrm>
            <a:custGeom>
              <a:avLst/>
              <a:gdLst>
                <a:gd name="connsiteX0" fmla="*/ 17799 w 1343540"/>
                <a:gd name="connsiteY0" fmla="*/ -44 h 668391"/>
                <a:gd name="connsiteX1" fmla="*/ 54412 w 1343540"/>
                <a:gd name="connsiteY1" fmla="*/ 17747 h 668391"/>
                <a:gd name="connsiteX2" fmla="*/ 36621 w 1343540"/>
                <a:gd name="connsiteY2" fmla="*/ 54360 h 668391"/>
                <a:gd name="connsiteX3" fmla="*/ -6 w 1343540"/>
                <a:gd name="connsiteY3" fmla="*/ 36569 h 668391"/>
                <a:gd name="connsiteX4" fmla="*/ 91025 w 1343540"/>
                <a:gd name="connsiteY4" fmla="*/ 35538 h 668391"/>
                <a:gd name="connsiteX5" fmla="*/ 127653 w 1343540"/>
                <a:gd name="connsiteY5" fmla="*/ 53329 h 668391"/>
                <a:gd name="connsiteX6" fmla="*/ 109848 w 1343540"/>
                <a:gd name="connsiteY6" fmla="*/ 89956 h 668391"/>
                <a:gd name="connsiteX7" fmla="*/ 73234 w 1343540"/>
                <a:gd name="connsiteY7" fmla="*/ 72165 h 668391"/>
                <a:gd name="connsiteX8" fmla="*/ 164266 w 1343540"/>
                <a:gd name="connsiteY8" fmla="*/ 71134 h 668391"/>
                <a:gd name="connsiteX9" fmla="*/ 200879 w 1343540"/>
                <a:gd name="connsiteY9" fmla="*/ 88925 h 668391"/>
                <a:gd name="connsiteX10" fmla="*/ 183088 w 1343540"/>
                <a:gd name="connsiteY10" fmla="*/ 125538 h 668391"/>
                <a:gd name="connsiteX11" fmla="*/ 146475 w 1343540"/>
                <a:gd name="connsiteY11" fmla="*/ 107747 h 668391"/>
                <a:gd name="connsiteX12" fmla="*/ 237493 w 1343540"/>
                <a:gd name="connsiteY12" fmla="*/ 106716 h 668391"/>
                <a:gd name="connsiteX13" fmla="*/ 274120 w 1343540"/>
                <a:gd name="connsiteY13" fmla="*/ 124507 h 668391"/>
                <a:gd name="connsiteX14" fmla="*/ 256329 w 1343540"/>
                <a:gd name="connsiteY14" fmla="*/ 161120 h 668391"/>
                <a:gd name="connsiteX15" fmla="*/ 219702 w 1343540"/>
                <a:gd name="connsiteY15" fmla="*/ 143329 h 668391"/>
                <a:gd name="connsiteX16" fmla="*/ 310733 w 1343540"/>
                <a:gd name="connsiteY16" fmla="*/ 142298 h 668391"/>
                <a:gd name="connsiteX17" fmla="*/ 347346 w 1343540"/>
                <a:gd name="connsiteY17" fmla="*/ 160102 h 668391"/>
                <a:gd name="connsiteX18" fmla="*/ 329555 w 1343540"/>
                <a:gd name="connsiteY18" fmla="*/ 196716 h 668391"/>
                <a:gd name="connsiteX19" fmla="*/ 292942 w 1343540"/>
                <a:gd name="connsiteY19" fmla="*/ 178925 h 668391"/>
                <a:gd name="connsiteX20" fmla="*/ 383973 w 1343540"/>
                <a:gd name="connsiteY20" fmla="*/ 177893 h 668391"/>
                <a:gd name="connsiteX21" fmla="*/ 420587 w 1343540"/>
                <a:gd name="connsiteY21" fmla="*/ 195684 h 668391"/>
                <a:gd name="connsiteX22" fmla="*/ 402796 w 1343540"/>
                <a:gd name="connsiteY22" fmla="*/ 232298 h 668391"/>
                <a:gd name="connsiteX23" fmla="*/ 366169 w 1343540"/>
                <a:gd name="connsiteY23" fmla="*/ 214507 h 668391"/>
                <a:gd name="connsiteX24" fmla="*/ 457200 w 1343540"/>
                <a:gd name="connsiteY24" fmla="*/ 213475 h 668391"/>
                <a:gd name="connsiteX25" fmla="*/ 493813 w 1343540"/>
                <a:gd name="connsiteY25" fmla="*/ 231266 h 668391"/>
                <a:gd name="connsiteX26" fmla="*/ 476022 w 1343540"/>
                <a:gd name="connsiteY26" fmla="*/ 267893 h 668391"/>
                <a:gd name="connsiteX27" fmla="*/ 439409 w 1343540"/>
                <a:gd name="connsiteY27" fmla="*/ 250089 h 668391"/>
                <a:gd name="connsiteX28" fmla="*/ 530441 w 1343540"/>
                <a:gd name="connsiteY28" fmla="*/ 249057 h 668391"/>
                <a:gd name="connsiteX29" fmla="*/ 567054 w 1343540"/>
                <a:gd name="connsiteY29" fmla="*/ 266862 h 668391"/>
                <a:gd name="connsiteX30" fmla="*/ 549263 w 1343540"/>
                <a:gd name="connsiteY30" fmla="*/ 303475 h 668391"/>
                <a:gd name="connsiteX31" fmla="*/ 512649 w 1343540"/>
                <a:gd name="connsiteY31" fmla="*/ 285684 h 668391"/>
                <a:gd name="connsiteX32" fmla="*/ 603667 w 1343540"/>
                <a:gd name="connsiteY32" fmla="*/ 284653 h 668391"/>
                <a:gd name="connsiteX33" fmla="*/ 640294 w 1343540"/>
                <a:gd name="connsiteY33" fmla="*/ 302444 h 668391"/>
                <a:gd name="connsiteX34" fmla="*/ 622490 w 1343540"/>
                <a:gd name="connsiteY34" fmla="*/ 339057 h 668391"/>
                <a:gd name="connsiteX35" fmla="*/ 585876 w 1343540"/>
                <a:gd name="connsiteY35" fmla="*/ 321266 h 668391"/>
                <a:gd name="connsiteX36" fmla="*/ 676908 w 1343540"/>
                <a:gd name="connsiteY36" fmla="*/ 320235 h 668391"/>
                <a:gd name="connsiteX37" fmla="*/ 713521 w 1343540"/>
                <a:gd name="connsiteY37" fmla="*/ 338026 h 668391"/>
                <a:gd name="connsiteX38" fmla="*/ 695730 w 1343540"/>
                <a:gd name="connsiteY38" fmla="*/ 374653 h 668391"/>
                <a:gd name="connsiteX39" fmla="*/ 659117 w 1343540"/>
                <a:gd name="connsiteY39" fmla="*/ 356862 h 668391"/>
                <a:gd name="connsiteX40" fmla="*/ 750148 w 1343540"/>
                <a:gd name="connsiteY40" fmla="*/ 355830 h 668391"/>
                <a:gd name="connsiteX41" fmla="*/ 786761 w 1343540"/>
                <a:gd name="connsiteY41" fmla="*/ 373622 h 668391"/>
                <a:gd name="connsiteX42" fmla="*/ 768970 w 1343540"/>
                <a:gd name="connsiteY42" fmla="*/ 410235 h 668391"/>
                <a:gd name="connsiteX43" fmla="*/ 732343 w 1343540"/>
                <a:gd name="connsiteY43" fmla="*/ 392444 h 668391"/>
                <a:gd name="connsiteX44" fmla="*/ 823375 w 1343540"/>
                <a:gd name="connsiteY44" fmla="*/ 391412 h 668391"/>
                <a:gd name="connsiteX45" fmla="*/ 859988 w 1343540"/>
                <a:gd name="connsiteY45" fmla="*/ 409203 h 668391"/>
                <a:gd name="connsiteX46" fmla="*/ 842197 w 1343540"/>
                <a:gd name="connsiteY46" fmla="*/ 445817 h 668391"/>
                <a:gd name="connsiteX47" fmla="*/ 805584 w 1343540"/>
                <a:gd name="connsiteY47" fmla="*/ 428026 h 668391"/>
                <a:gd name="connsiteX48" fmla="*/ 896615 w 1343540"/>
                <a:gd name="connsiteY48" fmla="*/ 426995 h 668391"/>
                <a:gd name="connsiteX49" fmla="*/ 933229 w 1343540"/>
                <a:gd name="connsiteY49" fmla="*/ 444799 h 668391"/>
                <a:gd name="connsiteX50" fmla="*/ 915437 w 1343540"/>
                <a:gd name="connsiteY50" fmla="*/ 481412 h 668391"/>
                <a:gd name="connsiteX51" fmla="*/ 878824 w 1343540"/>
                <a:gd name="connsiteY51" fmla="*/ 463621 h 668391"/>
                <a:gd name="connsiteX52" fmla="*/ 969842 w 1343540"/>
                <a:gd name="connsiteY52" fmla="*/ 462590 h 668391"/>
                <a:gd name="connsiteX53" fmla="*/ 1006469 w 1343540"/>
                <a:gd name="connsiteY53" fmla="*/ 480381 h 668391"/>
                <a:gd name="connsiteX54" fmla="*/ 988664 w 1343540"/>
                <a:gd name="connsiteY54" fmla="*/ 516995 h 668391"/>
                <a:gd name="connsiteX55" fmla="*/ 952051 w 1343540"/>
                <a:gd name="connsiteY55" fmla="*/ 499204 h 668391"/>
                <a:gd name="connsiteX56" fmla="*/ 1043082 w 1343540"/>
                <a:gd name="connsiteY56" fmla="*/ 498172 h 668391"/>
                <a:gd name="connsiteX57" fmla="*/ 1079696 w 1343540"/>
                <a:gd name="connsiteY57" fmla="*/ 515963 h 668391"/>
                <a:gd name="connsiteX58" fmla="*/ 1061905 w 1343540"/>
                <a:gd name="connsiteY58" fmla="*/ 552590 h 668391"/>
                <a:gd name="connsiteX59" fmla="*/ 1025291 w 1343540"/>
                <a:gd name="connsiteY59" fmla="*/ 534785 h 668391"/>
                <a:gd name="connsiteX60" fmla="*/ 1116309 w 1343540"/>
                <a:gd name="connsiteY60" fmla="*/ 533754 h 668391"/>
                <a:gd name="connsiteX61" fmla="*/ 1152936 w 1343540"/>
                <a:gd name="connsiteY61" fmla="*/ 551559 h 668391"/>
                <a:gd name="connsiteX62" fmla="*/ 1135145 w 1343540"/>
                <a:gd name="connsiteY62" fmla="*/ 588172 h 668391"/>
                <a:gd name="connsiteX63" fmla="*/ 1098518 w 1343540"/>
                <a:gd name="connsiteY63" fmla="*/ 570381 h 668391"/>
                <a:gd name="connsiteX64" fmla="*/ 1189549 w 1343540"/>
                <a:gd name="connsiteY64" fmla="*/ 569350 h 668391"/>
                <a:gd name="connsiteX65" fmla="*/ 1226163 w 1343540"/>
                <a:gd name="connsiteY65" fmla="*/ 587141 h 668391"/>
                <a:gd name="connsiteX66" fmla="*/ 1208372 w 1343540"/>
                <a:gd name="connsiteY66" fmla="*/ 623754 h 668391"/>
                <a:gd name="connsiteX67" fmla="*/ 1171758 w 1343540"/>
                <a:gd name="connsiteY67" fmla="*/ 605963 h 668391"/>
                <a:gd name="connsiteX68" fmla="*/ 1260374 w 1343540"/>
                <a:gd name="connsiteY68" fmla="*/ 558493 h 668391"/>
                <a:gd name="connsiteX69" fmla="*/ 1343534 w 1343540"/>
                <a:gd name="connsiteY69" fmla="*/ 666800 h 668391"/>
                <a:gd name="connsiteX70" fmla="*/ 1206988 w 1343540"/>
                <a:gd name="connsiteY70" fmla="*/ 668347 h 66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343540" h="668391">
                  <a:moveTo>
                    <a:pt x="17799" y="-44"/>
                  </a:moveTo>
                  <a:lnTo>
                    <a:pt x="54412" y="17747"/>
                  </a:lnTo>
                  <a:lnTo>
                    <a:pt x="36621" y="54360"/>
                  </a:lnTo>
                  <a:lnTo>
                    <a:pt x="-6" y="36569"/>
                  </a:lnTo>
                  <a:close/>
                  <a:moveTo>
                    <a:pt x="91025" y="35538"/>
                  </a:moveTo>
                  <a:lnTo>
                    <a:pt x="127653" y="53329"/>
                  </a:lnTo>
                  <a:lnTo>
                    <a:pt x="109848" y="89956"/>
                  </a:lnTo>
                  <a:lnTo>
                    <a:pt x="73234" y="72165"/>
                  </a:lnTo>
                  <a:close/>
                  <a:moveTo>
                    <a:pt x="164266" y="71134"/>
                  </a:moveTo>
                  <a:lnTo>
                    <a:pt x="200879" y="88925"/>
                  </a:lnTo>
                  <a:lnTo>
                    <a:pt x="183088" y="125538"/>
                  </a:lnTo>
                  <a:lnTo>
                    <a:pt x="146475" y="107747"/>
                  </a:lnTo>
                  <a:close/>
                  <a:moveTo>
                    <a:pt x="237493" y="106716"/>
                  </a:moveTo>
                  <a:lnTo>
                    <a:pt x="274120" y="124507"/>
                  </a:lnTo>
                  <a:lnTo>
                    <a:pt x="256329" y="161120"/>
                  </a:lnTo>
                  <a:lnTo>
                    <a:pt x="219702" y="143329"/>
                  </a:lnTo>
                  <a:close/>
                  <a:moveTo>
                    <a:pt x="310733" y="142298"/>
                  </a:moveTo>
                  <a:lnTo>
                    <a:pt x="347346" y="160102"/>
                  </a:lnTo>
                  <a:lnTo>
                    <a:pt x="329555" y="196716"/>
                  </a:lnTo>
                  <a:lnTo>
                    <a:pt x="292942" y="178925"/>
                  </a:lnTo>
                  <a:close/>
                  <a:moveTo>
                    <a:pt x="383973" y="177893"/>
                  </a:moveTo>
                  <a:lnTo>
                    <a:pt x="420587" y="195684"/>
                  </a:lnTo>
                  <a:lnTo>
                    <a:pt x="402796" y="232298"/>
                  </a:lnTo>
                  <a:lnTo>
                    <a:pt x="366169" y="214507"/>
                  </a:lnTo>
                  <a:close/>
                  <a:moveTo>
                    <a:pt x="457200" y="213475"/>
                  </a:moveTo>
                  <a:lnTo>
                    <a:pt x="493813" y="231266"/>
                  </a:lnTo>
                  <a:lnTo>
                    <a:pt x="476022" y="267893"/>
                  </a:lnTo>
                  <a:lnTo>
                    <a:pt x="439409" y="250089"/>
                  </a:lnTo>
                  <a:close/>
                  <a:moveTo>
                    <a:pt x="530441" y="249057"/>
                  </a:moveTo>
                  <a:lnTo>
                    <a:pt x="567054" y="266862"/>
                  </a:lnTo>
                  <a:lnTo>
                    <a:pt x="549263" y="303475"/>
                  </a:lnTo>
                  <a:lnTo>
                    <a:pt x="512649" y="285684"/>
                  </a:lnTo>
                  <a:close/>
                  <a:moveTo>
                    <a:pt x="603667" y="284653"/>
                  </a:moveTo>
                  <a:lnTo>
                    <a:pt x="640294" y="302444"/>
                  </a:lnTo>
                  <a:lnTo>
                    <a:pt x="622490" y="339057"/>
                  </a:lnTo>
                  <a:lnTo>
                    <a:pt x="585876" y="321266"/>
                  </a:lnTo>
                  <a:close/>
                  <a:moveTo>
                    <a:pt x="676908" y="320235"/>
                  </a:moveTo>
                  <a:lnTo>
                    <a:pt x="713521" y="338026"/>
                  </a:lnTo>
                  <a:lnTo>
                    <a:pt x="695730" y="374653"/>
                  </a:lnTo>
                  <a:lnTo>
                    <a:pt x="659117" y="356862"/>
                  </a:lnTo>
                  <a:close/>
                  <a:moveTo>
                    <a:pt x="750148" y="355830"/>
                  </a:moveTo>
                  <a:lnTo>
                    <a:pt x="786761" y="373622"/>
                  </a:lnTo>
                  <a:lnTo>
                    <a:pt x="768970" y="410235"/>
                  </a:lnTo>
                  <a:lnTo>
                    <a:pt x="732343" y="392444"/>
                  </a:lnTo>
                  <a:close/>
                  <a:moveTo>
                    <a:pt x="823375" y="391412"/>
                  </a:moveTo>
                  <a:lnTo>
                    <a:pt x="859988" y="409203"/>
                  </a:lnTo>
                  <a:lnTo>
                    <a:pt x="842197" y="445817"/>
                  </a:lnTo>
                  <a:lnTo>
                    <a:pt x="805584" y="428026"/>
                  </a:lnTo>
                  <a:close/>
                  <a:moveTo>
                    <a:pt x="896615" y="426995"/>
                  </a:moveTo>
                  <a:lnTo>
                    <a:pt x="933229" y="444799"/>
                  </a:lnTo>
                  <a:lnTo>
                    <a:pt x="915437" y="481412"/>
                  </a:lnTo>
                  <a:lnTo>
                    <a:pt x="878824" y="463621"/>
                  </a:lnTo>
                  <a:close/>
                  <a:moveTo>
                    <a:pt x="969842" y="462590"/>
                  </a:moveTo>
                  <a:lnTo>
                    <a:pt x="1006469" y="480381"/>
                  </a:lnTo>
                  <a:lnTo>
                    <a:pt x="988664" y="516995"/>
                  </a:lnTo>
                  <a:lnTo>
                    <a:pt x="952051" y="499204"/>
                  </a:lnTo>
                  <a:close/>
                  <a:moveTo>
                    <a:pt x="1043082" y="498172"/>
                  </a:moveTo>
                  <a:lnTo>
                    <a:pt x="1079696" y="515963"/>
                  </a:lnTo>
                  <a:lnTo>
                    <a:pt x="1061905" y="552590"/>
                  </a:lnTo>
                  <a:lnTo>
                    <a:pt x="1025291" y="534785"/>
                  </a:lnTo>
                  <a:close/>
                  <a:moveTo>
                    <a:pt x="1116309" y="533754"/>
                  </a:moveTo>
                  <a:lnTo>
                    <a:pt x="1152936" y="551559"/>
                  </a:lnTo>
                  <a:lnTo>
                    <a:pt x="1135145" y="588172"/>
                  </a:lnTo>
                  <a:lnTo>
                    <a:pt x="1098518" y="570381"/>
                  </a:lnTo>
                  <a:close/>
                  <a:moveTo>
                    <a:pt x="1189549" y="569350"/>
                  </a:moveTo>
                  <a:lnTo>
                    <a:pt x="1226163" y="587141"/>
                  </a:lnTo>
                  <a:lnTo>
                    <a:pt x="1208372" y="623754"/>
                  </a:lnTo>
                  <a:lnTo>
                    <a:pt x="1171758" y="605963"/>
                  </a:lnTo>
                  <a:close/>
                  <a:moveTo>
                    <a:pt x="1260374" y="558493"/>
                  </a:moveTo>
                  <a:lnTo>
                    <a:pt x="1343534" y="666800"/>
                  </a:lnTo>
                  <a:lnTo>
                    <a:pt x="1206988" y="668347"/>
                  </a:lnTo>
                  <a:close/>
                </a:path>
              </a:pathLst>
            </a:custGeom>
            <a:solidFill>
              <a:srgbClr val="7F7F7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F12D84AC-24D6-497A-DECD-6837AA970E94}"/>
                </a:ext>
              </a:extLst>
            </p:cNvPr>
            <p:cNvSpPr/>
            <p:nvPr/>
          </p:nvSpPr>
          <p:spPr>
            <a:xfrm>
              <a:off x="16183160" y="29518223"/>
              <a:ext cx="6815161" cy="51372"/>
            </a:xfrm>
            <a:custGeom>
              <a:avLst/>
              <a:gdLst>
                <a:gd name="connsiteX0" fmla="*/ -6 w 6832141"/>
                <a:gd name="connsiteY0" fmla="*/ -44 h 13570"/>
                <a:gd name="connsiteX1" fmla="*/ 6832136 w 6832141"/>
                <a:gd name="connsiteY1" fmla="*/ -44 h 13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32141" h="13570">
                  <a:moveTo>
                    <a:pt x="-6" y="-44"/>
                  </a:moveTo>
                  <a:lnTo>
                    <a:pt x="6832136" y="-44"/>
                  </a:lnTo>
                </a:path>
              </a:pathLst>
            </a:custGeom>
            <a:noFill/>
            <a:ln w="122111" cap="flat">
              <a:solidFill>
                <a:srgbClr val="8FAAD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F86DF750-5329-C025-01CB-FAB9DE9F356A}"/>
                </a:ext>
              </a:extLst>
            </p:cNvPr>
            <p:cNvSpPr txBox="1"/>
            <p:nvPr/>
          </p:nvSpPr>
          <p:spPr>
            <a:xfrm>
              <a:off x="23724900" y="28470270"/>
              <a:ext cx="718466" cy="3266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523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Spacer</a:t>
              </a: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2E5CC5B0-D437-BD09-180F-F3463C8867A3}"/>
                </a:ext>
              </a:extLst>
            </p:cNvPr>
            <p:cNvSpPr/>
            <p:nvPr/>
          </p:nvSpPr>
          <p:spPr>
            <a:xfrm>
              <a:off x="16190305" y="29569595"/>
              <a:ext cx="6815161" cy="664957"/>
            </a:xfrm>
            <a:custGeom>
              <a:avLst/>
              <a:gdLst>
                <a:gd name="connsiteX0" fmla="*/ -6 w 6825995"/>
                <a:gd name="connsiteY0" fmla="*/ -44 h 664957"/>
                <a:gd name="connsiteX1" fmla="*/ 6825990 w 6825995"/>
                <a:gd name="connsiteY1" fmla="*/ -44 h 664957"/>
                <a:gd name="connsiteX2" fmla="*/ 6825990 w 6825995"/>
                <a:gd name="connsiteY2" fmla="*/ 664914 h 664957"/>
                <a:gd name="connsiteX3" fmla="*/ -6 w 6825995"/>
                <a:gd name="connsiteY3" fmla="*/ 664914 h 66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5995" h="664957">
                  <a:moveTo>
                    <a:pt x="-6" y="-44"/>
                  </a:moveTo>
                  <a:lnTo>
                    <a:pt x="6825990" y="-44"/>
                  </a:lnTo>
                  <a:lnTo>
                    <a:pt x="6825990" y="664914"/>
                  </a:lnTo>
                  <a:lnTo>
                    <a:pt x="-6" y="664914"/>
                  </a:lnTo>
                  <a:close/>
                </a:path>
              </a:pathLst>
            </a:custGeom>
            <a:solidFill>
              <a:srgbClr val="B8D4F0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5" name="TextBox 1254">
              <a:extLst>
                <a:ext uri="{FF2B5EF4-FFF2-40B4-BE49-F238E27FC236}">
                  <a16:creationId xmlns:a16="http://schemas.microsoft.com/office/drawing/2014/main" id="{23C08CED-D3FA-3617-83B4-B2380B75A72D}"/>
                </a:ext>
              </a:extLst>
            </p:cNvPr>
            <p:cNvSpPr txBox="1"/>
            <p:nvPr/>
          </p:nvSpPr>
          <p:spPr>
            <a:xfrm>
              <a:off x="18342593" y="29788231"/>
              <a:ext cx="872739" cy="3266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523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33-layer </a:t>
              </a:r>
            </a:p>
          </p:txBody>
        </p:sp>
        <p:sp>
          <p:nvSpPr>
            <p:cNvPr id="1256" name="TextBox 1255">
              <a:extLst>
                <a:ext uri="{FF2B5EF4-FFF2-40B4-BE49-F238E27FC236}">
                  <a16:creationId xmlns:a16="http://schemas.microsoft.com/office/drawing/2014/main" id="{CD375F21-C205-F4F1-9E00-6249B5D2DC21}"/>
                </a:ext>
              </a:extLst>
            </p:cNvPr>
            <p:cNvSpPr txBox="1"/>
            <p:nvPr/>
          </p:nvSpPr>
          <p:spPr>
            <a:xfrm>
              <a:off x="19060714" y="29788231"/>
              <a:ext cx="1311449" cy="3266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523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mirror coating</a:t>
              </a: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E5AEF430-076F-6098-17C4-A0A17EC7BA60}"/>
                </a:ext>
              </a:extLst>
            </p:cNvPr>
            <p:cNvSpPr/>
            <p:nvPr/>
          </p:nvSpPr>
          <p:spPr>
            <a:xfrm flipV="1">
              <a:off x="18792561" y="29474333"/>
              <a:ext cx="120987" cy="405270"/>
            </a:xfrm>
            <a:custGeom>
              <a:avLst/>
              <a:gdLst>
                <a:gd name="connsiteX0" fmla="*/ 42001 w 120987"/>
                <a:gd name="connsiteY0" fmla="*/ 178 h 405270"/>
                <a:gd name="connsiteX1" fmla="*/ 47569 w 120987"/>
                <a:gd name="connsiteY1" fmla="*/ 40507 h 405270"/>
                <a:gd name="connsiteX2" fmla="*/ 7240 w 120987"/>
                <a:gd name="connsiteY2" fmla="*/ 46075 h 405270"/>
                <a:gd name="connsiteX3" fmla="*/ 1672 w 120987"/>
                <a:gd name="connsiteY3" fmla="*/ 5746 h 405270"/>
                <a:gd name="connsiteX4" fmla="*/ 53138 w 120987"/>
                <a:gd name="connsiteY4" fmla="*/ 80836 h 405270"/>
                <a:gd name="connsiteX5" fmla="*/ 58707 w 120987"/>
                <a:gd name="connsiteY5" fmla="*/ 121165 h 405270"/>
                <a:gd name="connsiteX6" fmla="*/ 18378 w 120987"/>
                <a:gd name="connsiteY6" fmla="*/ 126733 h 405270"/>
                <a:gd name="connsiteX7" fmla="*/ 12809 w 120987"/>
                <a:gd name="connsiteY7" fmla="*/ 86404 h 405270"/>
                <a:gd name="connsiteX8" fmla="*/ 64275 w 120987"/>
                <a:gd name="connsiteY8" fmla="*/ 161493 h 405270"/>
                <a:gd name="connsiteX9" fmla="*/ 69844 w 120987"/>
                <a:gd name="connsiteY9" fmla="*/ 201822 h 405270"/>
                <a:gd name="connsiteX10" fmla="*/ 29515 w 120987"/>
                <a:gd name="connsiteY10" fmla="*/ 207392 h 405270"/>
                <a:gd name="connsiteX11" fmla="*/ 23946 w 120987"/>
                <a:gd name="connsiteY11" fmla="*/ 167063 h 405270"/>
                <a:gd name="connsiteX12" fmla="*/ 75413 w 120987"/>
                <a:gd name="connsiteY12" fmla="*/ 242151 h 405270"/>
                <a:gd name="connsiteX13" fmla="*/ 80982 w 120987"/>
                <a:gd name="connsiteY13" fmla="*/ 282480 h 405270"/>
                <a:gd name="connsiteX14" fmla="*/ 40653 w 120987"/>
                <a:gd name="connsiteY14" fmla="*/ 288050 h 405270"/>
                <a:gd name="connsiteX15" fmla="*/ 35084 w 120987"/>
                <a:gd name="connsiteY15" fmla="*/ 247721 h 405270"/>
                <a:gd name="connsiteX16" fmla="*/ 121200 w 120987"/>
                <a:gd name="connsiteY16" fmla="*/ 276109 h 405270"/>
                <a:gd name="connsiteX17" fmla="*/ 77412 w 120987"/>
                <a:gd name="connsiteY17" fmla="*/ 405449 h 405270"/>
                <a:gd name="connsiteX18" fmla="*/ 213 w 120987"/>
                <a:gd name="connsiteY18" fmla="*/ 292814 h 40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0987" h="405270">
                  <a:moveTo>
                    <a:pt x="42001" y="178"/>
                  </a:moveTo>
                  <a:lnTo>
                    <a:pt x="47569" y="40507"/>
                  </a:lnTo>
                  <a:lnTo>
                    <a:pt x="7240" y="46075"/>
                  </a:lnTo>
                  <a:lnTo>
                    <a:pt x="1672" y="5746"/>
                  </a:lnTo>
                  <a:close/>
                  <a:moveTo>
                    <a:pt x="53138" y="80836"/>
                  </a:moveTo>
                  <a:lnTo>
                    <a:pt x="58707" y="121165"/>
                  </a:lnTo>
                  <a:lnTo>
                    <a:pt x="18378" y="126733"/>
                  </a:lnTo>
                  <a:lnTo>
                    <a:pt x="12809" y="86404"/>
                  </a:lnTo>
                  <a:close/>
                  <a:moveTo>
                    <a:pt x="64275" y="161493"/>
                  </a:moveTo>
                  <a:lnTo>
                    <a:pt x="69844" y="201822"/>
                  </a:lnTo>
                  <a:lnTo>
                    <a:pt x="29515" y="207392"/>
                  </a:lnTo>
                  <a:lnTo>
                    <a:pt x="23946" y="167063"/>
                  </a:lnTo>
                  <a:close/>
                  <a:moveTo>
                    <a:pt x="75413" y="242151"/>
                  </a:moveTo>
                  <a:lnTo>
                    <a:pt x="80982" y="282480"/>
                  </a:lnTo>
                  <a:lnTo>
                    <a:pt x="40653" y="288050"/>
                  </a:lnTo>
                  <a:lnTo>
                    <a:pt x="35084" y="247721"/>
                  </a:lnTo>
                  <a:close/>
                  <a:moveTo>
                    <a:pt x="121200" y="276109"/>
                  </a:moveTo>
                  <a:lnTo>
                    <a:pt x="77412" y="405449"/>
                  </a:lnTo>
                  <a:lnTo>
                    <a:pt x="213" y="292814"/>
                  </a:lnTo>
                  <a:close/>
                </a:path>
              </a:pathLst>
            </a:custGeom>
            <a:solidFill>
              <a:srgbClr val="7F7F7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2C527E68-271B-13BA-5CA2-2A231AEA9C9B}"/>
                </a:ext>
              </a:extLst>
            </p:cNvPr>
            <p:cNvSpPr/>
            <p:nvPr/>
          </p:nvSpPr>
          <p:spPr>
            <a:xfrm rot="11276653" flipV="1">
              <a:off x="21882027" y="28479972"/>
              <a:ext cx="1792862" cy="318921"/>
            </a:xfrm>
            <a:custGeom>
              <a:avLst/>
              <a:gdLst>
                <a:gd name="connsiteX0" fmla="*/ 6179 w 1789109"/>
                <a:gd name="connsiteY0" fmla="*/ 96 h 318921"/>
                <a:gd name="connsiteX1" fmla="*/ 46480 w 1789109"/>
                <a:gd name="connsiteY1" fmla="*/ 5863 h 318921"/>
                <a:gd name="connsiteX2" fmla="*/ 40713 w 1789109"/>
                <a:gd name="connsiteY2" fmla="*/ 46164 h 318921"/>
                <a:gd name="connsiteX3" fmla="*/ 412 w 1789109"/>
                <a:gd name="connsiteY3" fmla="*/ 40397 h 318921"/>
                <a:gd name="connsiteX4" fmla="*/ 86781 w 1789109"/>
                <a:gd name="connsiteY4" fmla="*/ 11630 h 318921"/>
                <a:gd name="connsiteX5" fmla="*/ 127082 w 1789109"/>
                <a:gd name="connsiteY5" fmla="*/ 17398 h 318921"/>
                <a:gd name="connsiteX6" fmla="*/ 121315 w 1789109"/>
                <a:gd name="connsiteY6" fmla="*/ 57699 h 318921"/>
                <a:gd name="connsiteX7" fmla="*/ 81014 w 1789109"/>
                <a:gd name="connsiteY7" fmla="*/ 51931 h 318921"/>
                <a:gd name="connsiteX8" fmla="*/ 167384 w 1789109"/>
                <a:gd name="connsiteY8" fmla="*/ 23165 h 318921"/>
                <a:gd name="connsiteX9" fmla="*/ 207684 w 1789109"/>
                <a:gd name="connsiteY9" fmla="*/ 28932 h 318921"/>
                <a:gd name="connsiteX10" fmla="*/ 201917 w 1789109"/>
                <a:gd name="connsiteY10" fmla="*/ 69233 h 318921"/>
                <a:gd name="connsiteX11" fmla="*/ 161616 w 1789109"/>
                <a:gd name="connsiteY11" fmla="*/ 63466 h 318921"/>
                <a:gd name="connsiteX12" fmla="*/ 247986 w 1789109"/>
                <a:gd name="connsiteY12" fmla="*/ 34700 h 318921"/>
                <a:gd name="connsiteX13" fmla="*/ 288287 w 1789109"/>
                <a:gd name="connsiteY13" fmla="*/ 40467 h 318921"/>
                <a:gd name="connsiteX14" fmla="*/ 282519 w 1789109"/>
                <a:gd name="connsiteY14" fmla="*/ 80768 h 318921"/>
                <a:gd name="connsiteX15" fmla="*/ 242219 w 1789109"/>
                <a:gd name="connsiteY15" fmla="*/ 75001 h 318921"/>
                <a:gd name="connsiteX16" fmla="*/ 328587 w 1789109"/>
                <a:gd name="connsiteY16" fmla="*/ 46234 h 318921"/>
                <a:gd name="connsiteX17" fmla="*/ 368889 w 1789109"/>
                <a:gd name="connsiteY17" fmla="*/ 52002 h 318921"/>
                <a:gd name="connsiteX18" fmla="*/ 363122 w 1789109"/>
                <a:gd name="connsiteY18" fmla="*/ 92303 h 318921"/>
                <a:gd name="connsiteX19" fmla="*/ 322821 w 1789109"/>
                <a:gd name="connsiteY19" fmla="*/ 86536 h 318921"/>
                <a:gd name="connsiteX20" fmla="*/ 409190 w 1789109"/>
                <a:gd name="connsiteY20" fmla="*/ 57769 h 318921"/>
                <a:gd name="connsiteX21" fmla="*/ 449492 w 1789109"/>
                <a:gd name="connsiteY21" fmla="*/ 63536 h 318921"/>
                <a:gd name="connsiteX22" fmla="*/ 443724 w 1789109"/>
                <a:gd name="connsiteY22" fmla="*/ 103838 h 318921"/>
                <a:gd name="connsiteX23" fmla="*/ 403422 w 1789109"/>
                <a:gd name="connsiteY23" fmla="*/ 98070 h 318921"/>
                <a:gd name="connsiteX24" fmla="*/ 489792 w 1789109"/>
                <a:gd name="connsiteY24" fmla="*/ 69304 h 318921"/>
                <a:gd name="connsiteX25" fmla="*/ 530094 w 1789109"/>
                <a:gd name="connsiteY25" fmla="*/ 75071 h 318921"/>
                <a:gd name="connsiteX26" fmla="*/ 524326 w 1789109"/>
                <a:gd name="connsiteY26" fmla="*/ 115372 h 318921"/>
                <a:gd name="connsiteX27" fmla="*/ 484025 w 1789109"/>
                <a:gd name="connsiteY27" fmla="*/ 109605 h 318921"/>
                <a:gd name="connsiteX28" fmla="*/ 570394 w 1789109"/>
                <a:gd name="connsiteY28" fmla="*/ 80839 h 318921"/>
                <a:gd name="connsiteX29" fmla="*/ 610696 w 1789109"/>
                <a:gd name="connsiteY29" fmla="*/ 86606 h 318921"/>
                <a:gd name="connsiteX30" fmla="*/ 604929 w 1789109"/>
                <a:gd name="connsiteY30" fmla="*/ 126907 h 318921"/>
                <a:gd name="connsiteX31" fmla="*/ 564627 w 1789109"/>
                <a:gd name="connsiteY31" fmla="*/ 121140 h 318921"/>
                <a:gd name="connsiteX32" fmla="*/ 650997 w 1789109"/>
                <a:gd name="connsiteY32" fmla="*/ 92373 h 318921"/>
                <a:gd name="connsiteX33" fmla="*/ 691297 w 1789109"/>
                <a:gd name="connsiteY33" fmla="*/ 98141 h 318921"/>
                <a:gd name="connsiteX34" fmla="*/ 685531 w 1789109"/>
                <a:gd name="connsiteY34" fmla="*/ 138442 h 318921"/>
                <a:gd name="connsiteX35" fmla="*/ 645229 w 1789109"/>
                <a:gd name="connsiteY35" fmla="*/ 132674 h 318921"/>
                <a:gd name="connsiteX36" fmla="*/ 731599 w 1789109"/>
                <a:gd name="connsiteY36" fmla="*/ 103908 h 318921"/>
                <a:gd name="connsiteX37" fmla="*/ 771900 w 1789109"/>
                <a:gd name="connsiteY37" fmla="*/ 109675 h 318921"/>
                <a:gd name="connsiteX38" fmla="*/ 766134 w 1789109"/>
                <a:gd name="connsiteY38" fmla="*/ 149976 h 318921"/>
                <a:gd name="connsiteX39" fmla="*/ 725832 w 1789109"/>
                <a:gd name="connsiteY39" fmla="*/ 144209 h 318921"/>
                <a:gd name="connsiteX40" fmla="*/ 812202 w 1789109"/>
                <a:gd name="connsiteY40" fmla="*/ 115443 h 318921"/>
                <a:gd name="connsiteX41" fmla="*/ 852502 w 1789109"/>
                <a:gd name="connsiteY41" fmla="*/ 121210 h 318921"/>
                <a:gd name="connsiteX42" fmla="*/ 846735 w 1789109"/>
                <a:gd name="connsiteY42" fmla="*/ 161512 h 318921"/>
                <a:gd name="connsiteX43" fmla="*/ 806434 w 1789109"/>
                <a:gd name="connsiteY43" fmla="*/ 155744 h 318921"/>
                <a:gd name="connsiteX44" fmla="*/ 892804 w 1789109"/>
                <a:gd name="connsiteY44" fmla="*/ 126977 h 318921"/>
                <a:gd name="connsiteX45" fmla="*/ 933105 w 1789109"/>
                <a:gd name="connsiteY45" fmla="*/ 132745 h 318921"/>
                <a:gd name="connsiteX46" fmla="*/ 927337 w 1789109"/>
                <a:gd name="connsiteY46" fmla="*/ 173047 h 318921"/>
                <a:gd name="connsiteX47" fmla="*/ 887037 w 1789109"/>
                <a:gd name="connsiteY47" fmla="*/ 167279 h 318921"/>
                <a:gd name="connsiteX48" fmla="*/ 973406 w 1789109"/>
                <a:gd name="connsiteY48" fmla="*/ 138512 h 318921"/>
                <a:gd name="connsiteX49" fmla="*/ 1013707 w 1789109"/>
                <a:gd name="connsiteY49" fmla="*/ 144279 h 318921"/>
                <a:gd name="connsiteX50" fmla="*/ 1007939 w 1789109"/>
                <a:gd name="connsiteY50" fmla="*/ 184580 h 318921"/>
                <a:gd name="connsiteX51" fmla="*/ 967639 w 1789109"/>
                <a:gd name="connsiteY51" fmla="*/ 178813 h 318921"/>
                <a:gd name="connsiteX52" fmla="*/ 1054007 w 1789109"/>
                <a:gd name="connsiteY52" fmla="*/ 150047 h 318921"/>
                <a:gd name="connsiteX53" fmla="*/ 1094309 w 1789109"/>
                <a:gd name="connsiteY53" fmla="*/ 155814 h 318921"/>
                <a:gd name="connsiteX54" fmla="*/ 1088542 w 1789109"/>
                <a:gd name="connsiteY54" fmla="*/ 196115 h 318921"/>
                <a:gd name="connsiteX55" fmla="*/ 1048241 w 1789109"/>
                <a:gd name="connsiteY55" fmla="*/ 190348 h 318921"/>
                <a:gd name="connsiteX56" fmla="*/ 1134610 w 1789109"/>
                <a:gd name="connsiteY56" fmla="*/ 161582 h 318921"/>
                <a:gd name="connsiteX57" fmla="*/ 1174912 w 1789109"/>
                <a:gd name="connsiteY57" fmla="*/ 167350 h 318921"/>
                <a:gd name="connsiteX58" fmla="*/ 1169144 w 1789109"/>
                <a:gd name="connsiteY58" fmla="*/ 207650 h 318921"/>
                <a:gd name="connsiteX59" fmla="*/ 1128842 w 1789109"/>
                <a:gd name="connsiteY59" fmla="*/ 201883 h 318921"/>
                <a:gd name="connsiteX60" fmla="*/ 1215212 w 1789109"/>
                <a:gd name="connsiteY60" fmla="*/ 173116 h 318921"/>
                <a:gd name="connsiteX61" fmla="*/ 1255514 w 1789109"/>
                <a:gd name="connsiteY61" fmla="*/ 178883 h 318921"/>
                <a:gd name="connsiteX62" fmla="*/ 1249747 w 1789109"/>
                <a:gd name="connsiteY62" fmla="*/ 219185 h 318921"/>
                <a:gd name="connsiteX63" fmla="*/ 1209445 w 1789109"/>
                <a:gd name="connsiteY63" fmla="*/ 213418 h 318921"/>
                <a:gd name="connsiteX64" fmla="*/ 1295815 w 1789109"/>
                <a:gd name="connsiteY64" fmla="*/ 184651 h 318921"/>
                <a:gd name="connsiteX65" fmla="*/ 1336117 w 1789109"/>
                <a:gd name="connsiteY65" fmla="*/ 190418 h 318921"/>
                <a:gd name="connsiteX66" fmla="*/ 1330349 w 1789109"/>
                <a:gd name="connsiteY66" fmla="*/ 230720 h 318921"/>
                <a:gd name="connsiteX67" fmla="*/ 1290047 w 1789109"/>
                <a:gd name="connsiteY67" fmla="*/ 224953 h 318921"/>
                <a:gd name="connsiteX68" fmla="*/ 1376420 w 1789109"/>
                <a:gd name="connsiteY68" fmla="*/ 196186 h 318921"/>
                <a:gd name="connsiteX69" fmla="*/ 1416724 w 1789109"/>
                <a:gd name="connsiteY69" fmla="*/ 201953 h 318921"/>
                <a:gd name="connsiteX70" fmla="*/ 1410957 w 1789109"/>
                <a:gd name="connsiteY70" fmla="*/ 242254 h 318921"/>
                <a:gd name="connsiteX71" fmla="*/ 1370652 w 1789109"/>
                <a:gd name="connsiteY71" fmla="*/ 236488 h 318921"/>
                <a:gd name="connsiteX72" fmla="*/ 1457015 w 1789109"/>
                <a:gd name="connsiteY72" fmla="*/ 207721 h 318921"/>
                <a:gd name="connsiteX73" fmla="*/ 1497320 w 1789109"/>
                <a:gd name="connsiteY73" fmla="*/ 213488 h 318921"/>
                <a:gd name="connsiteX74" fmla="*/ 1491552 w 1789109"/>
                <a:gd name="connsiteY74" fmla="*/ 253789 h 318921"/>
                <a:gd name="connsiteX75" fmla="*/ 1451248 w 1789109"/>
                <a:gd name="connsiteY75" fmla="*/ 248021 h 318921"/>
                <a:gd name="connsiteX76" fmla="*/ 1537625 w 1789109"/>
                <a:gd name="connsiteY76" fmla="*/ 219256 h 318921"/>
                <a:gd name="connsiteX77" fmla="*/ 1577929 w 1789109"/>
                <a:gd name="connsiteY77" fmla="*/ 225023 h 318921"/>
                <a:gd name="connsiteX78" fmla="*/ 1572162 w 1789109"/>
                <a:gd name="connsiteY78" fmla="*/ 265324 h 318921"/>
                <a:gd name="connsiteX79" fmla="*/ 1531857 w 1789109"/>
                <a:gd name="connsiteY79" fmla="*/ 259556 h 318921"/>
                <a:gd name="connsiteX80" fmla="*/ 1618220 w 1789109"/>
                <a:gd name="connsiteY80" fmla="*/ 230791 h 318921"/>
                <a:gd name="connsiteX81" fmla="*/ 1658525 w 1789109"/>
                <a:gd name="connsiteY81" fmla="*/ 236557 h 318921"/>
                <a:gd name="connsiteX82" fmla="*/ 1652757 w 1789109"/>
                <a:gd name="connsiteY82" fmla="*/ 276859 h 318921"/>
                <a:gd name="connsiteX83" fmla="*/ 1612453 w 1789109"/>
                <a:gd name="connsiteY83" fmla="*/ 271091 h 318921"/>
                <a:gd name="connsiteX84" fmla="*/ 1677266 w 1789109"/>
                <a:gd name="connsiteY84" fmla="*/ 198113 h 318921"/>
                <a:gd name="connsiteX85" fmla="*/ 1789521 w 1789109"/>
                <a:gd name="connsiteY85" fmla="*/ 275867 h 318921"/>
                <a:gd name="connsiteX86" fmla="*/ 1659963 w 1789109"/>
                <a:gd name="connsiteY86" fmla="*/ 319017 h 3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1789109" h="318921">
                  <a:moveTo>
                    <a:pt x="6179" y="96"/>
                  </a:moveTo>
                  <a:lnTo>
                    <a:pt x="46480" y="5863"/>
                  </a:lnTo>
                  <a:lnTo>
                    <a:pt x="40713" y="46164"/>
                  </a:lnTo>
                  <a:lnTo>
                    <a:pt x="412" y="40397"/>
                  </a:lnTo>
                  <a:close/>
                  <a:moveTo>
                    <a:pt x="86781" y="11630"/>
                  </a:moveTo>
                  <a:lnTo>
                    <a:pt x="127082" y="17398"/>
                  </a:lnTo>
                  <a:lnTo>
                    <a:pt x="121315" y="57699"/>
                  </a:lnTo>
                  <a:lnTo>
                    <a:pt x="81014" y="51931"/>
                  </a:lnTo>
                  <a:close/>
                  <a:moveTo>
                    <a:pt x="167384" y="23165"/>
                  </a:moveTo>
                  <a:lnTo>
                    <a:pt x="207684" y="28932"/>
                  </a:lnTo>
                  <a:lnTo>
                    <a:pt x="201917" y="69233"/>
                  </a:lnTo>
                  <a:lnTo>
                    <a:pt x="161616" y="63466"/>
                  </a:lnTo>
                  <a:close/>
                  <a:moveTo>
                    <a:pt x="247986" y="34700"/>
                  </a:moveTo>
                  <a:lnTo>
                    <a:pt x="288287" y="40467"/>
                  </a:lnTo>
                  <a:lnTo>
                    <a:pt x="282519" y="80768"/>
                  </a:lnTo>
                  <a:lnTo>
                    <a:pt x="242219" y="75001"/>
                  </a:lnTo>
                  <a:close/>
                  <a:moveTo>
                    <a:pt x="328587" y="46234"/>
                  </a:moveTo>
                  <a:lnTo>
                    <a:pt x="368889" y="52002"/>
                  </a:lnTo>
                  <a:lnTo>
                    <a:pt x="363122" y="92303"/>
                  </a:lnTo>
                  <a:lnTo>
                    <a:pt x="322821" y="86536"/>
                  </a:lnTo>
                  <a:close/>
                  <a:moveTo>
                    <a:pt x="409190" y="57769"/>
                  </a:moveTo>
                  <a:lnTo>
                    <a:pt x="449492" y="63536"/>
                  </a:lnTo>
                  <a:lnTo>
                    <a:pt x="443724" y="103838"/>
                  </a:lnTo>
                  <a:lnTo>
                    <a:pt x="403422" y="98070"/>
                  </a:lnTo>
                  <a:close/>
                  <a:moveTo>
                    <a:pt x="489792" y="69304"/>
                  </a:moveTo>
                  <a:lnTo>
                    <a:pt x="530094" y="75071"/>
                  </a:lnTo>
                  <a:lnTo>
                    <a:pt x="524326" y="115372"/>
                  </a:lnTo>
                  <a:lnTo>
                    <a:pt x="484025" y="109605"/>
                  </a:lnTo>
                  <a:close/>
                  <a:moveTo>
                    <a:pt x="570394" y="80839"/>
                  </a:moveTo>
                  <a:lnTo>
                    <a:pt x="610696" y="86606"/>
                  </a:lnTo>
                  <a:lnTo>
                    <a:pt x="604929" y="126907"/>
                  </a:lnTo>
                  <a:lnTo>
                    <a:pt x="564627" y="121140"/>
                  </a:lnTo>
                  <a:close/>
                  <a:moveTo>
                    <a:pt x="650997" y="92373"/>
                  </a:moveTo>
                  <a:lnTo>
                    <a:pt x="691297" y="98141"/>
                  </a:lnTo>
                  <a:lnTo>
                    <a:pt x="685531" y="138442"/>
                  </a:lnTo>
                  <a:lnTo>
                    <a:pt x="645229" y="132674"/>
                  </a:lnTo>
                  <a:close/>
                  <a:moveTo>
                    <a:pt x="731599" y="103908"/>
                  </a:moveTo>
                  <a:lnTo>
                    <a:pt x="771900" y="109675"/>
                  </a:lnTo>
                  <a:lnTo>
                    <a:pt x="766134" y="149976"/>
                  </a:lnTo>
                  <a:lnTo>
                    <a:pt x="725832" y="144209"/>
                  </a:lnTo>
                  <a:close/>
                  <a:moveTo>
                    <a:pt x="812202" y="115443"/>
                  </a:moveTo>
                  <a:lnTo>
                    <a:pt x="852502" y="121210"/>
                  </a:lnTo>
                  <a:lnTo>
                    <a:pt x="846735" y="161512"/>
                  </a:lnTo>
                  <a:lnTo>
                    <a:pt x="806434" y="155744"/>
                  </a:lnTo>
                  <a:close/>
                  <a:moveTo>
                    <a:pt x="892804" y="126977"/>
                  </a:moveTo>
                  <a:lnTo>
                    <a:pt x="933105" y="132745"/>
                  </a:lnTo>
                  <a:lnTo>
                    <a:pt x="927337" y="173047"/>
                  </a:lnTo>
                  <a:lnTo>
                    <a:pt x="887037" y="167279"/>
                  </a:lnTo>
                  <a:close/>
                  <a:moveTo>
                    <a:pt x="973406" y="138512"/>
                  </a:moveTo>
                  <a:lnTo>
                    <a:pt x="1013707" y="144279"/>
                  </a:lnTo>
                  <a:lnTo>
                    <a:pt x="1007939" y="184580"/>
                  </a:lnTo>
                  <a:lnTo>
                    <a:pt x="967639" y="178813"/>
                  </a:lnTo>
                  <a:close/>
                  <a:moveTo>
                    <a:pt x="1054007" y="150047"/>
                  </a:moveTo>
                  <a:lnTo>
                    <a:pt x="1094309" y="155814"/>
                  </a:lnTo>
                  <a:lnTo>
                    <a:pt x="1088542" y="196115"/>
                  </a:lnTo>
                  <a:lnTo>
                    <a:pt x="1048241" y="190348"/>
                  </a:lnTo>
                  <a:close/>
                  <a:moveTo>
                    <a:pt x="1134610" y="161582"/>
                  </a:moveTo>
                  <a:lnTo>
                    <a:pt x="1174912" y="167350"/>
                  </a:lnTo>
                  <a:lnTo>
                    <a:pt x="1169144" y="207650"/>
                  </a:lnTo>
                  <a:lnTo>
                    <a:pt x="1128842" y="201883"/>
                  </a:lnTo>
                  <a:close/>
                  <a:moveTo>
                    <a:pt x="1215212" y="173116"/>
                  </a:moveTo>
                  <a:lnTo>
                    <a:pt x="1255514" y="178883"/>
                  </a:lnTo>
                  <a:lnTo>
                    <a:pt x="1249747" y="219185"/>
                  </a:lnTo>
                  <a:lnTo>
                    <a:pt x="1209445" y="213418"/>
                  </a:lnTo>
                  <a:close/>
                  <a:moveTo>
                    <a:pt x="1295815" y="184651"/>
                  </a:moveTo>
                  <a:lnTo>
                    <a:pt x="1336117" y="190418"/>
                  </a:lnTo>
                  <a:lnTo>
                    <a:pt x="1330349" y="230720"/>
                  </a:lnTo>
                  <a:lnTo>
                    <a:pt x="1290047" y="224953"/>
                  </a:lnTo>
                  <a:close/>
                  <a:moveTo>
                    <a:pt x="1376420" y="196186"/>
                  </a:moveTo>
                  <a:lnTo>
                    <a:pt x="1416724" y="201953"/>
                  </a:lnTo>
                  <a:lnTo>
                    <a:pt x="1410957" y="242254"/>
                  </a:lnTo>
                  <a:lnTo>
                    <a:pt x="1370652" y="236488"/>
                  </a:lnTo>
                  <a:close/>
                  <a:moveTo>
                    <a:pt x="1457015" y="207721"/>
                  </a:moveTo>
                  <a:lnTo>
                    <a:pt x="1497320" y="213488"/>
                  </a:lnTo>
                  <a:lnTo>
                    <a:pt x="1491552" y="253789"/>
                  </a:lnTo>
                  <a:lnTo>
                    <a:pt x="1451248" y="248021"/>
                  </a:lnTo>
                  <a:close/>
                  <a:moveTo>
                    <a:pt x="1537625" y="219256"/>
                  </a:moveTo>
                  <a:lnTo>
                    <a:pt x="1577929" y="225023"/>
                  </a:lnTo>
                  <a:lnTo>
                    <a:pt x="1572162" y="265324"/>
                  </a:lnTo>
                  <a:lnTo>
                    <a:pt x="1531857" y="259556"/>
                  </a:lnTo>
                  <a:close/>
                  <a:moveTo>
                    <a:pt x="1618220" y="230791"/>
                  </a:moveTo>
                  <a:lnTo>
                    <a:pt x="1658525" y="236557"/>
                  </a:lnTo>
                  <a:lnTo>
                    <a:pt x="1652757" y="276859"/>
                  </a:lnTo>
                  <a:lnTo>
                    <a:pt x="1612453" y="271091"/>
                  </a:lnTo>
                  <a:close/>
                  <a:moveTo>
                    <a:pt x="1677266" y="198113"/>
                  </a:moveTo>
                  <a:lnTo>
                    <a:pt x="1789521" y="275867"/>
                  </a:lnTo>
                  <a:lnTo>
                    <a:pt x="1659963" y="319017"/>
                  </a:lnTo>
                  <a:close/>
                </a:path>
              </a:pathLst>
            </a:custGeom>
            <a:solidFill>
              <a:srgbClr val="7F7F7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5BF3192C-9C77-7AF2-CFD1-B76FD98FAE8B}"/>
                </a:ext>
              </a:extLst>
            </p:cNvPr>
            <p:cNvSpPr/>
            <p:nvPr/>
          </p:nvSpPr>
          <p:spPr>
            <a:xfrm>
              <a:off x="16187408" y="28856870"/>
              <a:ext cx="2171290" cy="203558"/>
            </a:xfrm>
            <a:custGeom>
              <a:avLst/>
              <a:gdLst>
                <a:gd name="connsiteX0" fmla="*/ -6 w 2171290"/>
                <a:gd name="connsiteY0" fmla="*/ -44 h 203558"/>
                <a:gd name="connsiteX1" fmla="*/ 2171285 w 2171290"/>
                <a:gd name="connsiteY1" fmla="*/ -44 h 203558"/>
                <a:gd name="connsiteX2" fmla="*/ 2171285 w 2171290"/>
                <a:gd name="connsiteY2" fmla="*/ 203514 h 203558"/>
                <a:gd name="connsiteX3" fmla="*/ -6 w 2171290"/>
                <a:gd name="connsiteY3" fmla="*/ 203514 h 203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290" h="203558">
                  <a:moveTo>
                    <a:pt x="-6" y="-44"/>
                  </a:moveTo>
                  <a:lnTo>
                    <a:pt x="2171285" y="-44"/>
                  </a:lnTo>
                  <a:lnTo>
                    <a:pt x="2171285" y="203514"/>
                  </a:lnTo>
                  <a:lnTo>
                    <a:pt x="-6" y="203514"/>
                  </a:lnTo>
                  <a:close/>
                </a:path>
              </a:pathLst>
            </a:custGeom>
            <a:solidFill>
              <a:srgbClr val="A6A6A6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0B055140-D1BD-61FD-AAFA-BFF7E1B84DC1}"/>
                </a:ext>
              </a:extLst>
            </p:cNvPr>
            <p:cNvSpPr/>
            <p:nvPr/>
          </p:nvSpPr>
          <p:spPr>
            <a:xfrm>
              <a:off x="18264577" y="28856870"/>
              <a:ext cx="3976176" cy="189987"/>
            </a:xfrm>
            <a:custGeom>
              <a:avLst/>
              <a:gdLst>
                <a:gd name="connsiteX0" fmla="*/ -6 w 3976176"/>
                <a:gd name="connsiteY0" fmla="*/ -44 h 189987"/>
                <a:gd name="connsiteX1" fmla="*/ 2459388 w 3976176"/>
                <a:gd name="connsiteY1" fmla="*/ -44 h 189987"/>
                <a:gd name="connsiteX2" fmla="*/ 2459388 w 3976176"/>
                <a:gd name="connsiteY2" fmla="*/ 49448 h 189987"/>
                <a:gd name="connsiteX3" fmla="*/ 2525449 w 3976176"/>
                <a:gd name="connsiteY3" fmla="*/ 49448 h 189987"/>
                <a:gd name="connsiteX4" fmla="*/ 2525449 w 3976176"/>
                <a:gd name="connsiteY4" fmla="*/ -44 h 189987"/>
                <a:gd name="connsiteX5" fmla="*/ 2635059 w 3976176"/>
                <a:gd name="connsiteY5" fmla="*/ -44 h 189987"/>
                <a:gd name="connsiteX6" fmla="*/ 2635059 w 3976176"/>
                <a:gd name="connsiteY6" fmla="*/ 49448 h 189987"/>
                <a:gd name="connsiteX7" fmla="*/ 2701121 w 3976176"/>
                <a:gd name="connsiteY7" fmla="*/ 49448 h 189987"/>
                <a:gd name="connsiteX8" fmla="*/ 2701121 w 3976176"/>
                <a:gd name="connsiteY8" fmla="*/ -44 h 189987"/>
                <a:gd name="connsiteX9" fmla="*/ 2810730 w 3976176"/>
                <a:gd name="connsiteY9" fmla="*/ -44 h 189987"/>
                <a:gd name="connsiteX10" fmla="*/ 2810730 w 3976176"/>
                <a:gd name="connsiteY10" fmla="*/ 49448 h 189987"/>
                <a:gd name="connsiteX11" fmla="*/ 2876792 w 3976176"/>
                <a:gd name="connsiteY11" fmla="*/ 49448 h 189987"/>
                <a:gd name="connsiteX12" fmla="*/ 2876792 w 3976176"/>
                <a:gd name="connsiteY12" fmla="*/ -44 h 189987"/>
                <a:gd name="connsiteX13" fmla="*/ 2986401 w 3976176"/>
                <a:gd name="connsiteY13" fmla="*/ -44 h 189987"/>
                <a:gd name="connsiteX14" fmla="*/ 2986401 w 3976176"/>
                <a:gd name="connsiteY14" fmla="*/ 49448 h 189987"/>
                <a:gd name="connsiteX15" fmla="*/ 2986401 w 3976176"/>
                <a:gd name="connsiteY15" fmla="*/ 49448 h 189987"/>
                <a:gd name="connsiteX16" fmla="*/ 3052463 w 3976176"/>
                <a:gd name="connsiteY16" fmla="*/ 49448 h 189987"/>
                <a:gd name="connsiteX17" fmla="*/ 3052476 w 3976176"/>
                <a:gd name="connsiteY17" fmla="*/ 49448 h 189987"/>
                <a:gd name="connsiteX18" fmla="*/ 3052476 w 3976176"/>
                <a:gd name="connsiteY18" fmla="*/ -44 h 189987"/>
                <a:gd name="connsiteX19" fmla="*/ 3162072 w 3976176"/>
                <a:gd name="connsiteY19" fmla="*/ -44 h 189987"/>
                <a:gd name="connsiteX20" fmla="*/ 3162072 w 3976176"/>
                <a:gd name="connsiteY20" fmla="*/ 49448 h 189987"/>
                <a:gd name="connsiteX21" fmla="*/ 3228147 w 3976176"/>
                <a:gd name="connsiteY21" fmla="*/ 49448 h 189987"/>
                <a:gd name="connsiteX22" fmla="*/ 3228147 w 3976176"/>
                <a:gd name="connsiteY22" fmla="*/ -44 h 189987"/>
                <a:gd name="connsiteX23" fmla="*/ 3976170 w 3976176"/>
                <a:gd name="connsiteY23" fmla="*/ -44 h 189987"/>
                <a:gd name="connsiteX24" fmla="*/ 3976170 w 3976176"/>
                <a:gd name="connsiteY24" fmla="*/ 189944 h 189987"/>
                <a:gd name="connsiteX25" fmla="*/ -6 w 3976176"/>
                <a:gd name="connsiteY25" fmla="*/ 189944 h 1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976176" h="189987">
                  <a:moveTo>
                    <a:pt x="-6" y="-44"/>
                  </a:moveTo>
                  <a:lnTo>
                    <a:pt x="2459388" y="-44"/>
                  </a:lnTo>
                  <a:lnTo>
                    <a:pt x="2459388" y="49448"/>
                  </a:lnTo>
                  <a:lnTo>
                    <a:pt x="2525449" y="49448"/>
                  </a:lnTo>
                  <a:lnTo>
                    <a:pt x="2525449" y="-44"/>
                  </a:lnTo>
                  <a:lnTo>
                    <a:pt x="2635059" y="-44"/>
                  </a:lnTo>
                  <a:lnTo>
                    <a:pt x="2635059" y="49448"/>
                  </a:lnTo>
                  <a:lnTo>
                    <a:pt x="2701121" y="49448"/>
                  </a:lnTo>
                  <a:lnTo>
                    <a:pt x="2701121" y="-44"/>
                  </a:lnTo>
                  <a:lnTo>
                    <a:pt x="2810730" y="-44"/>
                  </a:lnTo>
                  <a:lnTo>
                    <a:pt x="2810730" y="49448"/>
                  </a:lnTo>
                  <a:lnTo>
                    <a:pt x="2876792" y="49448"/>
                  </a:lnTo>
                  <a:lnTo>
                    <a:pt x="2876792" y="-44"/>
                  </a:lnTo>
                  <a:lnTo>
                    <a:pt x="2986401" y="-44"/>
                  </a:lnTo>
                  <a:lnTo>
                    <a:pt x="2986401" y="49448"/>
                  </a:lnTo>
                  <a:lnTo>
                    <a:pt x="2986401" y="49448"/>
                  </a:lnTo>
                  <a:lnTo>
                    <a:pt x="3052463" y="49448"/>
                  </a:lnTo>
                  <a:lnTo>
                    <a:pt x="3052476" y="49448"/>
                  </a:lnTo>
                  <a:lnTo>
                    <a:pt x="3052476" y="-44"/>
                  </a:lnTo>
                  <a:lnTo>
                    <a:pt x="3162072" y="-44"/>
                  </a:lnTo>
                  <a:lnTo>
                    <a:pt x="3162072" y="49448"/>
                  </a:lnTo>
                  <a:lnTo>
                    <a:pt x="3228147" y="49448"/>
                  </a:lnTo>
                  <a:lnTo>
                    <a:pt x="3228147" y="-44"/>
                  </a:lnTo>
                  <a:lnTo>
                    <a:pt x="3976170" y="-44"/>
                  </a:lnTo>
                  <a:lnTo>
                    <a:pt x="3976170" y="189944"/>
                  </a:lnTo>
                  <a:lnTo>
                    <a:pt x="-6" y="189944"/>
                  </a:lnTo>
                  <a:close/>
                </a:path>
              </a:pathLst>
            </a:custGeom>
            <a:solidFill>
              <a:srgbClr val="A6A6A6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74FD141D-42C8-34A0-7143-79AE0276CFAA}"/>
                </a:ext>
              </a:extLst>
            </p:cNvPr>
            <p:cNvSpPr/>
            <p:nvPr/>
          </p:nvSpPr>
          <p:spPr>
            <a:xfrm>
              <a:off x="16188279" y="28843299"/>
              <a:ext cx="5306091" cy="135705"/>
            </a:xfrm>
            <a:custGeom>
              <a:avLst/>
              <a:gdLst>
                <a:gd name="connsiteX0" fmla="*/ -6 w 5306091"/>
                <a:gd name="connsiteY0" fmla="*/ -44 h 135705"/>
                <a:gd name="connsiteX1" fmla="*/ 5306086 w 5306091"/>
                <a:gd name="connsiteY1" fmla="*/ -44 h 135705"/>
                <a:gd name="connsiteX2" fmla="*/ 5306086 w 5306091"/>
                <a:gd name="connsiteY2" fmla="*/ 135662 h 135705"/>
                <a:gd name="connsiteX3" fmla="*/ -6 w 5306091"/>
                <a:gd name="connsiteY3" fmla="*/ 135662 h 13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6091" h="135705">
                  <a:moveTo>
                    <a:pt x="-6" y="-44"/>
                  </a:moveTo>
                  <a:lnTo>
                    <a:pt x="5306086" y="-44"/>
                  </a:lnTo>
                  <a:lnTo>
                    <a:pt x="5306086" y="135662"/>
                  </a:lnTo>
                  <a:lnTo>
                    <a:pt x="-6" y="135662"/>
                  </a:lnTo>
                  <a:close/>
                </a:path>
              </a:pathLst>
            </a:custGeom>
            <a:gradFill>
              <a:gsLst>
                <a:gs pos="0">
                  <a:srgbClr val="FBC9CB">
                    <a:alpha val="10196"/>
                  </a:srgbClr>
                </a:gs>
                <a:gs pos="55000">
                  <a:srgbClr val="FF0000">
                    <a:alpha val="10196"/>
                  </a:srgbClr>
                </a:gs>
                <a:gs pos="100000">
                  <a:srgbClr val="F8A6AA">
                    <a:alpha val="10196"/>
                  </a:srgbClr>
                </a:gs>
              </a:gsLst>
              <a:lin ang="16200000" scaled="1"/>
            </a:gra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CF1697B3-97B9-641F-2913-21E1BC929717}"/>
                </a:ext>
              </a:extLst>
            </p:cNvPr>
            <p:cNvSpPr/>
            <p:nvPr/>
          </p:nvSpPr>
          <p:spPr>
            <a:xfrm>
              <a:off x="18644553" y="28863655"/>
              <a:ext cx="1603444" cy="149276"/>
            </a:xfrm>
            <a:custGeom>
              <a:avLst/>
              <a:gdLst>
                <a:gd name="connsiteX0" fmla="*/ -6 w 1603444"/>
                <a:gd name="connsiteY0" fmla="*/ 49719 h 149276"/>
                <a:gd name="connsiteX1" fmla="*/ 1479050 w 1603444"/>
                <a:gd name="connsiteY1" fmla="*/ 49719 h 149276"/>
                <a:gd name="connsiteX2" fmla="*/ 1479050 w 1603444"/>
                <a:gd name="connsiteY2" fmla="*/ 99469 h 149276"/>
                <a:gd name="connsiteX3" fmla="*/ -6 w 1603444"/>
                <a:gd name="connsiteY3" fmla="*/ 99469 h 149276"/>
                <a:gd name="connsiteX4" fmla="*/ 1454162 w 1603444"/>
                <a:gd name="connsiteY4" fmla="*/ -44 h 149276"/>
                <a:gd name="connsiteX5" fmla="*/ 1603438 w 1603444"/>
                <a:gd name="connsiteY5" fmla="*/ 74594 h 149276"/>
                <a:gd name="connsiteX6" fmla="*/ 1454162 w 1603444"/>
                <a:gd name="connsiteY6" fmla="*/ 149232 h 149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3444" h="149276">
                  <a:moveTo>
                    <a:pt x="-6" y="49719"/>
                  </a:moveTo>
                  <a:lnTo>
                    <a:pt x="1479050" y="49719"/>
                  </a:lnTo>
                  <a:lnTo>
                    <a:pt x="1479050" y="99469"/>
                  </a:lnTo>
                  <a:lnTo>
                    <a:pt x="-6" y="99469"/>
                  </a:lnTo>
                  <a:close/>
                  <a:moveTo>
                    <a:pt x="1454162" y="-44"/>
                  </a:moveTo>
                  <a:lnTo>
                    <a:pt x="1603438" y="74594"/>
                  </a:lnTo>
                  <a:lnTo>
                    <a:pt x="1454162" y="149232"/>
                  </a:lnTo>
                  <a:close/>
                </a:path>
              </a:pathLst>
            </a:custGeom>
            <a:solidFill>
              <a:srgbClr val="C04F15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11883980-B345-E3A6-9771-DCB13F4EB9E6}"/>
                </a:ext>
              </a:extLst>
            </p:cNvPr>
            <p:cNvSpPr/>
            <p:nvPr/>
          </p:nvSpPr>
          <p:spPr>
            <a:xfrm>
              <a:off x="16188280" y="29037469"/>
              <a:ext cx="6812424" cy="420687"/>
            </a:xfrm>
            <a:custGeom>
              <a:avLst/>
              <a:gdLst>
                <a:gd name="connsiteX0" fmla="*/ -6 w 6812424"/>
                <a:gd name="connsiteY0" fmla="*/ -44 h 420687"/>
                <a:gd name="connsiteX1" fmla="*/ 6812419 w 6812424"/>
                <a:gd name="connsiteY1" fmla="*/ -44 h 420687"/>
                <a:gd name="connsiteX2" fmla="*/ 6812419 w 6812424"/>
                <a:gd name="connsiteY2" fmla="*/ 420644 h 420687"/>
                <a:gd name="connsiteX3" fmla="*/ -6 w 6812424"/>
                <a:gd name="connsiteY3" fmla="*/ 420644 h 42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12424" h="420687">
                  <a:moveTo>
                    <a:pt x="-6" y="-44"/>
                  </a:moveTo>
                  <a:lnTo>
                    <a:pt x="6812419" y="-44"/>
                  </a:lnTo>
                  <a:lnTo>
                    <a:pt x="6812419" y="420644"/>
                  </a:lnTo>
                  <a:lnTo>
                    <a:pt x="-6" y="420644"/>
                  </a:lnTo>
                  <a:close/>
                </a:path>
              </a:pathLst>
            </a:custGeom>
            <a:solidFill>
              <a:srgbClr val="B8D4F0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264" name="Picture 1263">
              <a:extLst>
                <a:ext uri="{FF2B5EF4-FFF2-40B4-BE49-F238E27FC236}">
                  <a16:creationId xmlns:a16="http://schemas.microsoft.com/office/drawing/2014/main" id="{412E044B-3551-915D-82D9-8DACE786F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0544432" y="27703372"/>
              <a:ext cx="1126357" cy="1818455"/>
            </a:xfrm>
            <a:custGeom>
              <a:avLst/>
              <a:gdLst>
                <a:gd name="connsiteX0" fmla="*/ 340 w 1126357"/>
                <a:gd name="connsiteY0" fmla="*/ 47 h 1818455"/>
                <a:gd name="connsiteX1" fmla="*/ 1126697 w 1126357"/>
                <a:gd name="connsiteY1" fmla="*/ 47 h 1818455"/>
                <a:gd name="connsiteX2" fmla="*/ 1126697 w 1126357"/>
                <a:gd name="connsiteY2" fmla="*/ 1818503 h 1818455"/>
                <a:gd name="connsiteX3" fmla="*/ 340 w 1126357"/>
                <a:gd name="connsiteY3" fmla="*/ 1818503 h 181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357" h="1818455">
                  <a:moveTo>
                    <a:pt x="340" y="47"/>
                  </a:moveTo>
                  <a:lnTo>
                    <a:pt x="1126697" y="47"/>
                  </a:lnTo>
                  <a:lnTo>
                    <a:pt x="1126697" y="1818503"/>
                  </a:lnTo>
                  <a:lnTo>
                    <a:pt x="340" y="1818503"/>
                  </a:lnTo>
                  <a:close/>
                </a:path>
              </a:pathLst>
            </a:custGeom>
          </p:spPr>
        </p:pic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FF8D42BE-836D-1126-56DA-B4CC985931BD}"/>
                </a:ext>
              </a:extLst>
            </p:cNvPr>
            <p:cNvSpPr/>
            <p:nvPr/>
          </p:nvSpPr>
          <p:spPr>
            <a:xfrm rot="10800000" flipV="1">
              <a:off x="20625856" y="27784795"/>
              <a:ext cx="963510" cy="1655608"/>
            </a:xfrm>
            <a:custGeom>
              <a:avLst/>
              <a:gdLst>
                <a:gd name="connsiteX0" fmla="*/ 346 w 963510"/>
                <a:gd name="connsiteY0" fmla="*/ 53 h 1655608"/>
                <a:gd name="connsiteX1" fmla="*/ 963856 w 963510"/>
                <a:gd name="connsiteY1" fmla="*/ 53 h 1655608"/>
                <a:gd name="connsiteX2" fmla="*/ 963856 w 963510"/>
                <a:gd name="connsiteY2" fmla="*/ 187665 h 1655608"/>
                <a:gd name="connsiteX3" fmla="*/ 935518 w 963510"/>
                <a:gd name="connsiteY3" fmla="*/ 211025 h 1655608"/>
                <a:gd name="connsiteX4" fmla="*/ 650710 w 963510"/>
                <a:gd name="connsiteY4" fmla="*/ 1472704 h 1655608"/>
                <a:gd name="connsiteX5" fmla="*/ 640196 w 963510"/>
                <a:gd name="connsiteY5" fmla="*/ 1655662 h 1655608"/>
                <a:gd name="connsiteX6" fmla="*/ 358397 w 963510"/>
                <a:gd name="connsiteY6" fmla="*/ 1655662 h 1655608"/>
                <a:gd name="connsiteX7" fmla="*/ 349605 w 963510"/>
                <a:gd name="connsiteY7" fmla="*/ 1502654 h 1655608"/>
                <a:gd name="connsiteX8" fmla="*/ 25515 w 963510"/>
                <a:gd name="connsiteY8" fmla="*/ 208599 h 1655608"/>
                <a:gd name="connsiteX9" fmla="*/ 346 w 963510"/>
                <a:gd name="connsiteY9" fmla="*/ 201735 h 165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3510" h="1655608">
                  <a:moveTo>
                    <a:pt x="346" y="53"/>
                  </a:moveTo>
                  <a:lnTo>
                    <a:pt x="963856" y="53"/>
                  </a:lnTo>
                  <a:lnTo>
                    <a:pt x="963856" y="187665"/>
                  </a:lnTo>
                  <a:lnTo>
                    <a:pt x="935518" y="211025"/>
                  </a:lnTo>
                  <a:cubicBezTo>
                    <a:pt x="806744" y="353349"/>
                    <a:pt x="700761" y="833581"/>
                    <a:pt x="650710" y="1472704"/>
                  </a:cubicBezTo>
                  <a:lnTo>
                    <a:pt x="640196" y="1655662"/>
                  </a:lnTo>
                  <a:lnTo>
                    <a:pt x="358397" y="1655662"/>
                  </a:lnTo>
                  <a:lnTo>
                    <a:pt x="349605" y="1502654"/>
                  </a:lnTo>
                  <a:cubicBezTo>
                    <a:pt x="294549" y="799623"/>
                    <a:pt x="171814" y="288844"/>
                    <a:pt x="25515" y="208599"/>
                  </a:cubicBezTo>
                  <a:lnTo>
                    <a:pt x="346" y="201735"/>
                  </a:lnTo>
                  <a:close/>
                </a:path>
              </a:pathLst>
            </a:custGeom>
            <a:solidFill>
              <a:srgbClr val="C04F15">
                <a:alpha val="39000"/>
              </a:srgbClr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9EDE4552-EE56-3F41-2D1C-3042F8BACDFA}"/>
                </a:ext>
              </a:extLst>
            </p:cNvPr>
            <p:cNvSpPr/>
            <p:nvPr/>
          </p:nvSpPr>
          <p:spPr>
            <a:xfrm rot="10800000" flipV="1">
              <a:off x="19200946" y="27255543"/>
              <a:ext cx="3799758" cy="1017794"/>
            </a:xfrm>
            <a:custGeom>
              <a:avLst/>
              <a:gdLst>
                <a:gd name="connsiteX0" fmla="*/ 3800000 w 3799758"/>
                <a:gd name="connsiteY0" fmla="*/ 14 h 1017794"/>
                <a:gd name="connsiteX1" fmla="*/ 241 w 3799758"/>
                <a:gd name="connsiteY1" fmla="*/ 14 h 1017794"/>
                <a:gd name="connsiteX2" fmla="*/ 241 w 3799758"/>
                <a:gd name="connsiteY2" fmla="*/ 677761 h 1017794"/>
                <a:gd name="connsiteX3" fmla="*/ 1007905 w 3799758"/>
                <a:gd name="connsiteY3" fmla="*/ 677761 h 1017794"/>
                <a:gd name="connsiteX4" fmla="*/ 1016284 w 3799758"/>
                <a:gd name="connsiteY4" fmla="*/ 686257 h 1017794"/>
                <a:gd name="connsiteX5" fmla="*/ 1297924 w 3799758"/>
                <a:gd name="connsiteY5" fmla="*/ 1013827 h 1017794"/>
                <a:gd name="connsiteX6" fmla="*/ 1517349 w 3799758"/>
                <a:gd name="connsiteY6" fmla="*/ 918315 h 1017794"/>
                <a:gd name="connsiteX7" fmla="*/ 1567587 w 3799758"/>
                <a:gd name="connsiteY7" fmla="*/ 880296 h 1017794"/>
                <a:gd name="connsiteX8" fmla="*/ 1579082 w 3799758"/>
                <a:gd name="connsiteY8" fmla="*/ 867249 h 1017794"/>
                <a:gd name="connsiteX9" fmla="*/ 1900120 w 3799758"/>
                <a:gd name="connsiteY9" fmla="*/ 742826 h 1017794"/>
                <a:gd name="connsiteX10" fmla="*/ 2153958 w 3799758"/>
                <a:gd name="connsiteY10" fmla="*/ 815376 h 1017794"/>
                <a:gd name="connsiteX11" fmla="*/ 2175603 w 3799758"/>
                <a:gd name="connsiteY11" fmla="*/ 832080 h 1017794"/>
                <a:gd name="connsiteX12" fmla="*/ 2181533 w 3799758"/>
                <a:gd name="connsiteY12" fmla="*/ 832080 h 1017794"/>
                <a:gd name="connsiteX13" fmla="*/ 2183759 w 3799758"/>
                <a:gd name="connsiteY13" fmla="*/ 833652 h 1017794"/>
                <a:gd name="connsiteX14" fmla="*/ 2518776 w 3799758"/>
                <a:gd name="connsiteY14" fmla="*/ 1016647 h 1017794"/>
                <a:gd name="connsiteX15" fmla="*/ 2800419 w 3799758"/>
                <a:gd name="connsiteY15" fmla="*/ 689074 h 1017794"/>
                <a:gd name="connsiteX16" fmla="*/ 2811574 w 3799758"/>
                <a:gd name="connsiteY16" fmla="*/ 677761 h 1017794"/>
                <a:gd name="connsiteX17" fmla="*/ 3800000 w 3799758"/>
                <a:gd name="connsiteY17" fmla="*/ 677761 h 10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99758" h="1017794">
                  <a:moveTo>
                    <a:pt x="3800000" y="14"/>
                  </a:moveTo>
                  <a:lnTo>
                    <a:pt x="241" y="14"/>
                  </a:lnTo>
                  <a:lnTo>
                    <a:pt x="241" y="677761"/>
                  </a:lnTo>
                  <a:lnTo>
                    <a:pt x="1007905" y="677761"/>
                  </a:lnTo>
                  <a:lnTo>
                    <a:pt x="1016284" y="686257"/>
                  </a:lnTo>
                  <a:cubicBezTo>
                    <a:pt x="1095565" y="783570"/>
                    <a:pt x="1187967" y="997620"/>
                    <a:pt x="1297924" y="1013827"/>
                  </a:cubicBezTo>
                  <a:cubicBezTo>
                    <a:pt x="1360758" y="1023088"/>
                    <a:pt x="1439020" y="975624"/>
                    <a:pt x="1517349" y="918315"/>
                  </a:cubicBezTo>
                  <a:lnTo>
                    <a:pt x="1567587" y="880296"/>
                  </a:lnTo>
                  <a:lnTo>
                    <a:pt x="1579082" y="867249"/>
                  </a:lnTo>
                  <a:cubicBezTo>
                    <a:pt x="1661251" y="790375"/>
                    <a:pt x="1774755" y="742826"/>
                    <a:pt x="1900120" y="742826"/>
                  </a:cubicBezTo>
                  <a:cubicBezTo>
                    <a:pt x="1994151" y="742826"/>
                    <a:pt x="2081505" y="769571"/>
                    <a:pt x="2153958" y="815376"/>
                  </a:cubicBezTo>
                  <a:lnTo>
                    <a:pt x="2175603" y="832080"/>
                  </a:lnTo>
                  <a:lnTo>
                    <a:pt x="2181533" y="832080"/>
                  </a:lnTo>
                  <a:lnTo>
                    <a:pt x="2183759" y="833652"/>
                  </a:lnTo>
                  <a:cubicBezTo>
                    <a:pt x="2295553" y="916792"/>
                    <a:pt x="2424528" y="1030538"/>
                    <a:pt x="2518776" y="1016647"/>
                  </a:cubicBezTo>
                  <a:cubicBezTo>
                    <a:pt x="2628738" y="1000439"/>
                    <a:pt x="2721140" y="786389"/>
                    <a:pt x="2800419" y="689074"/>
                  </a:cubicBezTo>
                  <a:lnTo>
                    <a:pt x="2811574" y="677761"/>
                  </a:lnTo>
                  <a:lnTo>
                    <a:pt x="3800000" y="677761"/>
                  </a:lnTo>
                  <a:close/>
                </a:path>
              </a:pathLst>
            </a:custGeom>
            <a:solidFill>
              <a:srgbClr val="8FAADC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B6DB3CE7-3159-20DD-849B-FE2B65A95D61}"/>
                </a:ext>
              </a:extLst>
            </p:cNvPr>
            <p:cNvSpPr/>
            <p:nvPr/>
          </p:nvSpPr>
          <p:spPr>
            <a:xfrm rot="10800000" flipV="1">
              <a:off x="19200946" y="27079126"/>
              <a:ext cx="3799758" cy="1004223"/>
            </a:xfrm>
            <a:custGeom>
              <a:avLst/>
              <a:gdLst>
                <a:gd name="connsiteX0" fmla="*/ 3800000 w 3799758"/>
                <a:gd name="connsiteY0" fmla="*/ 1 h 1004223"/>
                <a:gd name="connsiteX1" fmla="*/ 241 w 3799758"/>
                <a:gd name="connsiteY1" fmla="*/ 1 h 1004223"/>
                <a:gd name="connsiteX2" fmla="*/ 241 w 3799758"/>
                <a:gd name="connsiteY2" fmla="*/ 668711 h 1004223"/>
                <a:gd name="connsiteX3" fmla="*/ 1007905 w 3799758"/>
                <a:gd name="connsiteY3" fmla="*/ 668711 h 1004223"/>
                <a:gd name="connsiteX4" fmla="*/ 1016284 w 3799758"/>
                <a:gd name="connsiteY4" fmla="*/ 677095 h 1004223"/>
                <a:gd name="connsiteX5" fmla="*/ 1297924 w 3799758"/>
                <a:gd name="connsiteY5" fmla="*/ 1000297 h 1004223"/>
                <a:gd name="connsiteX6" fmla="*/ 1517349 w 3799758"/>
                <a:gd name="connsiteY6" fmla="*/ 906057 h 1004223"/>
                <a:gd name="connsiteX7" fmla="*/ 1567587 w 3799758"/>
                <a:gd name="connsiteY7" fmla="*/ 868546 h 1004223"/>
                <a:gd name="connsiteX8" fmla="*/ 1579082 w 3799758"/>
                <a:gd name="connsiteY8" fmla="*/ 855673 h 1004223"/>
                <a:gd name="connsiteX9" fmla="*/ 1900120 w 3799758"/>
                <a:gd name="connsiteY9" fmla="*/ 732908 h 1004223"/>
                <a:gd name="connsiteX10" fmla="*/ 2153958 w 3799758"/>
                <a:gd name="connsiteY10" fmla="*/ 804491 h 1004223"/>
                <a:gd name="connsiteX11" fmla="*/ 2175603 w 3799758"/>
                <a:gd name="connsiteY11" fmla="*/ 820973 h 1004223"/>
                <a:gd name="connsiteX12" fmla="*/ 2181533 w 3799758"/>
                <a:gd name="connsiteY12" fmla="*/ 820973 h 1004223"/>
                <a:gd name="connsiteX13" fmla="*/ 2183759 w 3799758"/>
                <a:gd name="connsiteY13" fmla="*/ 822524 h 1004223"/>
                <a:gd name="connsiteX14" fmla="*/ 2518776 w 3799758"/>
                <a:gd name="connsiteY14" fmla="*/ 1003079 h 1004223"/>
                <a:gd name="connsiteX15" fmla="*/ 2800419 w 3799758"/>
                <a:gd name="connsiteY15" fmla="*/ 679874 h 1004223"/>
                <a:gd name="connsiteX16" fmla="*/ 2811574 w 3799758"/>
                <a:gd name="connsiteY16" fmla="*/ 668711 h 1004223"/>
                <a:gd name="connsiteX17" fmla="*/ 3800000 w 3799758"/>
                <a:gd name="connsiteY17" fmla="*/ 668711 h 100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99758" h="1004223">
                  <a:moveTo>
                    <a:pt x="3800000" y="1"/>
                  </a:moveTo>
                  <a:lnTo>
                    <a:pt x="241" y="1"/>
                  </a:lnTo>
                  <a:lnTo>
                    <a:pt x="241" y="668711"/>
                  </a:lnTo>
                  <a:lnTo>
                    <a:pt x="1007905" y="668711"/>
                  </a:lnTo>
                  <a:lnTo>
                    <a:pt x="1016284" y="677095"/>
                  </a:lnTo>
                  <a:cubicBezTo>
                    <a:pt x="1095565" y="773109"/>
                    <a:pt x="1187967" y="984305"/>
                    <a:pt x="1297924" y="1000297"/>
                  </a:cubicBezTo>
                  <a:cubicBezTo>
                    <a:pt x="1360758" y="1009434"/>
                    <a:pt x="1439020" y="962602"/>
                    <a:pt x="1517349" y="906057"/>
                  </a:cubicBezTo>
                  <a:lnTo>
                    <a:pt x="1567587" y="868546"/>
                  </a:lnTo>
                  <a:lnTo>
                    <a:pt x="1579082" y="855673"/>
                  </a:lnTo>
                  <a:cubicBezTo>
                    <a:pt x="1661251" y="779823"/>
                    <a:pt x="1774755" y="732908"/>
                    <a:pt x="1900120" y="732908"/>
                  </a:cubicBezTo>
                  <a:cubicBezTo>
                    <a:pt x="1994151" y="732908"/>
                    <a:pt x="2081505" y="759297"/>
                    <a:pt x="2153958" y="804491"/>
                  </a:cubicBezTo>
                  <a:lnTo>
                    <a:pt x="2175603" y="820973"/>
                  </a:lnTo>
                  <a:lnTo>
                    <a:pt x="2181533" y="820973"/>
                  </a:lnTo>
                  <a:lnTo>
                    <a:pt x="2183759" y="822524"/>
                  </a:lnTo>
                  <a:cubicBezTo>
                    <a:pt x="2295553" y="904555"/>
                    <a:pt x="2424528" y="1016785"/>
                    <a:pt x="2518776" y="1003079"/>
                  </a:cubicBezTo>
                  <a:cubicBezTo>
                    <a:pt x="2628738" y="987087"/>
                    <a:pt x="2721140" y="775891"/>
                    <a:pt x="2800419" y="679874"/>
                  </a:cubicBezTo>
                  <a:lnTo>
                    <a:pt x="2811574" y="668711"/>
                  </a:lnTo>
                  <a:lnTo>
                    <a:pt x="3800000" y="668711"/>
                  </a:lnTo>
                  <a:close/>
                </a:path>
              </a:pathLst>
            </a:custGeom>
            <a:solidFill>
              <a:srgbClr val="A6A6A6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FC8AA269-C163-CCA1-A12E-C5A122182DF9}"/>
                </a:ext>
              </a:extLst>
            </p:cNvPr>
            <p:cNvSpPr/>
            <p:nvPr/>
          </p:nvSpPr>
          <p:spPr>
            <a:xfrm>
              <a:off x="22166115" y="28999361"/>
              <a:ext cx="2368797" cy="1341464"/>
            </a:xfrm>
            <a:custGeom>
              <a:avLst/>
              <a:gdLst>
                <a:gd name="connsiteX0" fmla="*/ 2348869 w 2368797"/>
                <a:gd name="connsiteY0" fmla="*/ 1341420 h 1341464"/>
                <a:gd name="connsiteX1" fmla="*/ 2313355 w 2368797"/>
                <a:gd name="connsiteY1" fmla="*/ 1321498 h 1341464"/>
                <a:gd name="connsiteX2" fmla="*/ 2333290 w 2368797"/>
                <a:gd name="connsiteY2" fmla="*/ 1285998 h 1341464"/>
                <a:gd name="connsiteX3" fmla="*/ 2368791 w 2368797"/>
                <a:gd name="connsiteY3" fmla="*/ 1305919 h 1341464"/>
                <a:gd name="connsiteX4" fmla="*/ 2277855 w 2368797"/>
                <a:gd name="connsiteY4" fmla="*/ 1301577 h 1341464"/>
                <a:gd name="connsiteX5" fmla="*/ 2242354 w 2368797"/>
                <a:gd name="connsiteY5" fmla="*/ 1281655 h 1341464"/>
                <a:gd name="connsiteX6" fmla="*/ 2262276 w 2368797"/>
                <a:gd name="connsiteY6" fmla="*/ 1246154 h 1341464"/>
                <a:gd name="connsiteX7" fmla="*/ 2297776 w 2368797"/>
                <a:gd name="connsiteY7" fmla="*/ 1266076 h 1341464"/>
                <a:gd name="connsiteX8" fmla="*/ 2206853 w 2368797"/>
                <a:gd name="connsiteY8" fmla="*/ 1261734 h 1341464"/>
                <a:gd name="connsiteX9" fmla="*/ 2171353 w 2368797"/>
                <a:gd name="connsiteY9" fmla="*/ 1241812 h 1341464"/>
                <a:gd name="connsiteX10" fmla="*/ 2191275 w 2368797"/>
                <a:gd name="connsiteY10" fmla="*/ 1206298 h 1341464"/>
                <a:gd name="connsiteX11" fmla="*/ 2226775 w 2368797"/>
                <a:gd name="connsiteY11" fmla="*/ 1226233 h 1341464"/>
                <a:gd name="connsiteX12" fmla="*/ 2135839 w 2368797"/>
                <a:gd name="connsiteY12" fmla="*/ 1221877 h 1341464"/>
                <a:gd name="connsiteX13" fmla="*/ 2100338 w 2368797"/>
                <a:gd name="connsiteY13" fmla="*/ 1201955 h 1341464"/>
                <a:gd name="connsiteX14" fmla="*/ 2120259 w 2368797"/>
                <a:gd name="connsiteY14" fmla="*/ 1166455 h 1341464"/>
                <a:gd name="connsiteX15" fmla="*/ 2155774 w 2368797"/>
                <a:gd name="connsiteY15" fmla="*/ 1186376 h 1341464"/>
                <a:gd name="connsiteX16" fmla="*/ 2064837 w 2368797"/>
                <a:gd name="connsiteY16" fmla="*/ 1182033 h 1341464"/>
                <a:gd name="connsiteX17" fmla="*/ 2029336 w 2368797"/>
                <a:gd name="connsiteY17" fmla="*/ 1162112 h 1341464"/>
                <a:gd name="connsiteX18" fmla="*/ 2049258 w 2368797"/>
                <a:gd name="connsiteY18" fmla="*/ 1126611 h 1341464"/>
                <a:gd name="connsiteX19" fmla="*/ 2084759 w 2368797"/>
                <a:gd name="connsiteY19" fmla="*/ 1146533 h 1341464"/>
                <a:gd name="connsiteX20" fmla="*/ 1993836 w 2368797"/>
                <a:gd name="connsiteY20" fmla="*/ 1142191 h 1341464"/>
                <a:gd name="connsiteX21" fmla="*/ 1958322 w 2368797"/>
                <a:gd name="connsiteY21" fmla="*/ 1122269 h 1341464"/>
                <a:gd name="connsiteX22" fmla="*/ 1978257 w 2368797"/>
                <a:gd name="connsiteY22" fmla="*/ 1086768 h 1341464"/>
                <a:gd name="connsiteX23" fmla="*/ 2013758 w 2368797"/>
                <a:gd name="connsiteY23" fmla="*/ 1106690 h 1341464"/>
                <a:gd name="connsiteX24" fmla="*/ 1922821 w 2368797"/>
                <a:gd name="connsiteY24" fmla="*/ 1102347 h 1341464"/>
                <a:gd name="connsiteX25" fmla="*/ 1887321 w 2368797"/>
                <a:gd name="connsiteY25" fmla="*/ 1082412 h 1341464"/>
                <a:gd name="connsiteX26" fmla="*/ 1907243 w 2368797"/>
                <a:gd name="connsiteY26" fmla="*/ 1046911 h 1341464"/>
                <a:gd name="connsiteX27" fmla="*/ 1942743 w 2368797"/>
                <a:gd name="connsiteY27" fmla="*/ 1066833 h 1341464"/>
                <a:gd name="connsiteX28" fmla="*/ 1851820 w 2368797"/>
                <a:gd name="connsiteY28" fmla="*/ 1062490 h 1341464"/>
                <a:gd name="connsiteX29" fmla="*/ 1816320 w 2368797"/>
                <a:gd name="connsiteY29" fmla="*/ 1042569 h 1341464"/>
                <a:gd name="connsiteX30" fmla="*/ 1836241 w 2368797"/>
                <a:gd name="connsiteY30" fmla="*/ 1007068 h 1341464"/>
                <a:gd name="connsiteX31" fmla="*/ 1871742 w 2368797"/>
                <a:gd name="connsiteY31" fmla="*/ 1026990 h 1341464"/>
                <a:gd name="connsiteX32" fmla="*/ 1780806 w 2368797"/>
                <a:gd name="connsiteY32" fmla="*/ 1022647 h 1341464"/>
                <a:gd name="connsiteX33" fmla="*/ 1745305 w 2368797"/>
                <a:gd name="connsiteY33" fmla="*/ 1002726 h 1341464"/>
                <a:gd name="connsiteX34" fmla="*/ 1765226 w 2368797"/>
                <a:gd name="connsiteY34" fmla="*/ 967225 h 1341464"/>
                <a:gd name="connsiteX35" fmla="*/ 1800727 w 2368797"/>
                <a:gd name="connsiteY35" fmla="*/ 987147 h 1341464"/>
                <a:gd name="connsiteX36" fmla="*/ 1709804 w 2368797"/>
                <a:gd name="connsiteY36" fmla="*/ 982804 h 1341464"/>
                <a:gd name="connsiteX37" fmla="*/ 1674303 w 2368797"/>
                <a:gd name="connsiteY37" fmla="*/ 962883 h 1341464"/>
                <a:gd name="connsiteX38" fmla="*/ 1694225 w 2368797"/>
                <a:gd name="connsiteY38" fmla="*/ 927368 h 1341464"/>
                <a:gd name="connsiteX39" fmla="*/ 1729725 w 2368797"/>
                <a:gd name="connsiteY39" fmla="*/ 947290 h 1341464"/>
                <a:gd name="connsiteX40" fmla="*/ 1638789 w 2368797"/>
                <a:gd name="connsiteY40" fmla="*/ 942947 h 1341464"/>
                <a:gd name="connsiteX41" fmla="*/ 1603289 w 2368797"/>
                <a:gd name="connsiteY41" fmla="*/ 923026 h 1341464"/>
                <a:gd name="connsiteX42" fmla="*/ 1623210 w 2368797"/>
                <a:gd name="connsiteY42" fmla="*/ 887525 h 1341464"/>
                <a:gd name="connsiteX43" fmla="*/ 1658724 w 2368797"/>
                <a:gd name="connsiteY43" fmla="*/ 907447 h 1341464"/>
                <a:gd name="connsiteX44" fmla="*/ 1567788 w 2368797"/>
                <a:gd name="connsiteY44" fmla="*/ 903104 h 1341464"/>
                <a:gd name="connsiteX45" fmla="*/ 1532288 w 2368797"/>
                <a:gd name="connsiteY45" fmla="*/ 883183 h 1341464"/>
                <a:gd name="connsiteX46" fmla="*/ 1552209 w 2368797"/>
                <a:gd name="connsiteY46" fmla="*/ 847682 h 1341464"/>
                <a:gd name="connsiteX47" fmla="*/ 1587710 w 2368797"/>
                <a:gd name="connsiteY47" fmla="*/ 867604 h 1341464"/>
                <a:gd name="connsiteX48" fmla="*/ 1496787 w 2368797"/>
                <a:gd name="connsiteY48" fmla="*/ 863261 h 1341464"/>
                <a:gd name="connsiteX49" fmla="*/ 1461273 w 2368797"/>
                <a:gd name="connsiteY49" fmla="*/ 843339 h 1341464"/>
                <a:gd name="connsiteX50" fmla="*/ 1481208 w 2368797"/>
                <a:gd name="connsiteY50" fmla="*/ 807825 h 1341464"/>
                <a:gd name="connsiteX51" fmla="*/ 1516709 w 2368797"/>
                <a:gd name="connsiteY51" fmla="*/ 827760 h 1341464"/>
                <a:gd name="connsiteX52" fmla="*/ 1425772 w 2368797"/>
                <a:gd name="connsiteY52" fmla="*/ 823404 h 1341464"/>
                <a:gd name="connsiteX53" fmla="*/ 1390272 w 2368797"/>
                <a:gd name="connsiteY53" fmla="*/ 803483 h 1341464"/>
                <a:gd name="connsiteX54" fmla="*/ 1410193 w 2368797"/>
                <a:gd name="connsiteY54" fmla="*/ 767982 h 1341464"/>
                <a:gd name="connsiteX55" fmla="*/ 1445694 w 2368797"/>
                <a:gd name="connsiteY55" fmla="*/ 787904 h 1341464"/>
                <a:gd name="connsiteX56" fmla="*/ 1354771 w 2368797"/>
                <a:gd name="connsiteY56" fmla="*/ 783561 h 1341464"/>
                <a:gd name="connsiteX57" fmla="*/ 1319270 w 2368797"/>
                <a:gd name="connsiteY57" fmla="*/ 763639 h 1341464"/>
                <a:gd name="connsiteX58" fmla="*/ 1339192 w 2368797"/>
                <a:gd name="connsiteY58" fmla="*/ 728139 h 1341464"/>
                <a:gd name="connsiteX59" fmla="*/ 1374692 w 2368797"/>
                <a:gd name="connsiteY59" fmla="*/ 748061 h 1341464"/>
                <a:gd name="connsiteX60" fmla="*/ 1283756 w 2368797"/>
                <a:gd name="connsiteY60" fmla="*/ 743718 h 1341464"/>
                <a:gd name="connsiteX61" fmla="*/ 1248255 w 2368797"/>
                <a:gd name="connsiteY61" fmla="*/ 723796 h 1341464"/>
                <a:gd name="connsiteX62" fmla="*/ 1268177 w 2368797"/>
                <a:gd name="connsiteY62" fmla="*/ 688296 h 1341464"/>
                <a:gd name="connsiteX63" fmla="*/ 1303691 w 2368797"/>
                <a:gd name="connsiteY63" fmla="*/ 708217 h 1341464"/>
                <a:gd name="connsiteX64" fmla="*/ 1212755 w 2368797"/>
                <a:gd name="connsiteY64" fmla="*/ 703875 h 1341464"/>
                <a:gd name="connsiteX65" fmla="*/ 1177254 w 2368797"/>
                <a:gd name="connsiteY65" fmla="*/ 683940 h 1341464"/>
                <a:gd name="connsiteX66" fmla="*/ 1197176 w 2368797"/>
                <a:gd name="connsiteY66" fmla="*/ 648439 h 1341464"/>
                <a:gd name="connsiteX67" fmla="*/ 1232677 w 2368797"/>
                <a:gd name="connsiteY67" fmla="*/ 668361 h 1341464"/>
                <a:gd name="connsiteX68" fmla="*/ 1141754 w 2368797"/>
                <a:gd name="connsiteY68" fmla="*/ 664018 h 1341464"/>
                <a:gd name="connsiteX69" fmla="*/ 1106240 w 2368797"/>
                <a:gd name="connsiteY69" fmla="*/ 644096 h 1341464"/>
                <a:gd name="connsiteX70" fmla="*/ 1126175 w 2368797"/>
                <a:gd name="connsiteY70" fmla="*/ 608596 h 1341464"/>
                <a:gd name="connsiteX71" fmla="*/ 1161676 w 2368797"/>
                <a:gd name="connsiteY71" fmla="*/ 628517 h 1341464"/>
                <a:gd name="connsiteX72" fmla="*/ 1070739 w 2368797"/>
                <a:gd name="connsiteY72" fmla="*/ 624175 h 1341464"/>
                <a:gd name="connsiteX73" fmla="*/ 1035238 w 2368797"/>
                <a:gd name="connsiteY73" fmla="*/ 604253 h 1341464"/>
                <a:gd name="connsiteX74" fmla="*/ 1055160 w 2368797"/>
                <a:gd name="connsiteY74" fmla="*/ 568753 h 1341464"/>
                <a:gd name="connsiteX75" fmla="*/ 1090660 w 2368797"/>
                <a:gd name="connsiteY75" fmla="*/ 588674 h 1341464"/>
                <a:gd name="connsiteX76" fmla="*/ 999737 w 2368797"/>
                <a:gd name="connsiteY76" fmla="*/ 584332 h 1341464"/>
                <a:gd name="connsiteX77" fmla="*/ 964237 w 2368797"/>
                <a:gd name="connsiteY77" fmla="*/ 564410 h 1341464"/>
                <a:gd name="connsiteX78" fmla="*/ 984158 w 2368797"/>
                <a:gd name="connsiteY78" fmla="*/ 528896 h 1341464"/>
                <a:gd name="connsiteX79" fmla="*/ 1019659 w 2368797"/>
                <a:gd name="connsiteY79" fmla="*/ 548818 h 1341464"/>
                <a:gd name="connsiteX80" fmla="*/ 928723 w 2368797"/>
                <a:gd name="connsiteY80" fmla="*/ 544475 h 1341464"/>
                <a:gd name="connsiteX81" fmla="*/ 893222 w 2368797"/>
                <a:gd name="connsiteY81" fmla="*/ 524553 h 1341464"/>
                <a:gd name="connsiteX82" fmla="*/ 913144 w 2368797"/>
                <a:gd name="connsiteY82" fmla="*/ 489053 h 1341464"/>
                <a:gd name="connsiteX83" fmla="*/ 948658 w 2368797"/>
                <a:gd name="connsiteY83" fmla="*/ 508974 h 1341464"/>
                <a:gd name="connsiteX84" fmla="*/ 857722 w 2368797"/>
                <a:gd name="connsiteY84" fmla="*/ 504632 h 1341464"/>
                <a:gd name="connsiteX85" fmla="*/ 822221 w 2368797"/>
                <a:gd name="connsiteY85" fmla="*/ 484710 h 1341464"/>
                <a:gd name="connsiteX86" fmla="*/ 842143 w 2368797"/>
                <a:gd name="connsiteY86" fmla="*/ 449209 h 1341464"/>
                <a:gd name="connsiteX87" fmla="*/ 877643 w 2368797"/>
                <a:gd name="connsiteY87" fmla="*/ 469131 h 1341464"/>
                <a:gd name="connsiteX88" fmla="*/ 786721 w 2368797"/>
                <a:gd name="connsiteY88" fmla="*/ 464789 h 1341464"/>
                <a:gd name="connsiteX89" fmla="*/ 751207 w 2368797"/>
                <a:gd name="connsiteY89" fmla="*/ 444867 h 1341464"/>
                <a:gd name="connsiteX90" fmla="*/ 771128 w 2368797"/>
                <a:gd name="connsiteY90" fmla="*/ 409353 h 1341464"/>
                <a:gd name="connsiteX91" fmla="*/ 806642 w 2368797"/>
                <a:gd name="connsiteY91" fmla="*/ 429288 h 1341464"/>
                <a:gd name="connsiteX92" fmla="*/ 715706 w 2368797"/>
                <a:gd name="connsiteY92" fmla="*/ 424932 h 1341464"/>
                <a:gd name="connsiteX93" fmla="*/ 680205 w 2368797"/>
                <a:gd name="connsiteY93" fmla="*/ 405010 h 1341464"/>
                <a:gd name="connsiteX94" fmla="*/ 700126 w 2368797"/>
                <a:gd name="connsiteY94" fmla="*/ 369510 h 1341464"/>
                <a:gd name="connsiteX95" fmla="*/ 735627 w 2368797"/>
                <a:gd name="connsiteY95" fmla="*/ 389431 h 1341464"/>
                <a:gd name="connsiteX96" fmla="*/ 644704 w 2368797"/>
                <a:gd name="connsiteY96" fmla="*/ 385089 h 1341464"/>
                <a:gd name="connsiteX97" fmla="*/ 609190 w 2368797"/>
                <a:gd name="connsiteY97" fmla="*/ 365167 h 1341464"/>
                <a:gd name="connsiteX98" fmla="*/ 629125 w 2368797"/>
                <a:gd name="connsiteY98" fmla="*/ 329667 h 1341464"/>
                <a:gd name="connsiteX99" fmla="*/ 664626 w 2368797"/>
                <a:gd name="connsiteY99" fmla="*/ 349588 h 1341464"/>
                <a:gd name="connsiteX100" fmla="*/ 573690 w 2368797"/>
                <a:gd name="connsiteY100" fmla="*/ 345245 h 1341464"/>
                <a:gd name="connsiteX101" fmla="*/ 538189 w 2368797"/>
                <a:gd name="connsiteY101" fmla="*/ 325324 h 1341464"/>
                <a:gd name="connsiteX102" fmla="*/ 558111 w 2368797"/>
                <a:gd name="connsiteY102" fmla="*/ 289823 h 1341464"/>
                <a:gd name="connsiteX103" fmla="*/ 593612 w 2368797"/>
                <a:gd name="connsiteY103" fmla="*/ 309745 h 1341464"/>
                <a:gd name="connsiteX104" fmla="*/ 502689 w 2368797"/>
                <a:gd name="connsiteY104" fmla="*/ 305402 h 1341464"/>
                <a:gd name="connsiteX105" fmla="*/ 467188 w 2368797"/>
                <a:gd name="connsiteY105" fmla="*/ 285467 h 1341464"/>
                <a:gd name="connsiteX106" fmla="*/ 487109 w 2368797"/>
                <a:gd name="connsiteY106" fmla="*/ 249967 h 1341464"/>
                <a:gd name="connsiteX107" fmla="*/ 522610 w 2368797"/>
                <a:gd name="connsiteY107" fmla="*/ 269888 h 1341464"/>
                <a:gd name="connsiteX108" fmla="*/ 431674 w 2368797"/>
                <a:gd name="connsiteY108" fmla="*/ 265546 h 1341464"/>
                <a:gd name="connsiteX109" fmla="*/ 396173 w 2368797"/>
                <a:gd name="connsiteY109" fmla="*/ 245624 h 1341464"/>
                <a:gd name="connsiteX110" fmla="*/ 416095 w 2368797"/>
                <a:gd name="connsiteY110" fmla="*/ 210123 h 1341464"/>
                <a:gd name="connsiteX111" fmla="*/ 451609 w 2368797"/>
                <a:gd name="connsiteY111" fmla="*/ 230045 h 1341464"/>
                <a:gd name="connsiteX112" fmla="*/ 360673 w 2368797"/>
                <a:gd name="connsiteY112" fmla="*/ 225702 h 1341464"/>
                <a:gd name="connsiteX113" fmla="*/ 325172 w 2368797"/>
                <a:gd name="connsiteY113" fmla="*/ 205781 h 1341464"/>
                <a:gd name="connsiteX114" fmla="*/ 345093 w 2368797"/>
                <a:gd name="connsiteY114" fmla="*/ 170280 h 1341464"/>
                <a:gd name="connsiteX115" fmla="*/ 380594 w 2368797"/>
                <a:gd name="connsiteY115" fmla="*/ 190202 h 1341464"/>
                <a:gd name="connsiteX116" fmla="*/ 289671 w 2368797"/>
                <a:gd name="connsiteY116" fmla="*/ 185859 h 1341464"/>
                <a:gd name="connsiteX117" fmla="*/ 254157 w 2368797"/>
                <a:gd name="connsiteY117" fmla="*/ 165938 h 1341464"/>
                <a:gd name="connsiteX118" fmla="*/ 274092 w 2368797"/>
                <a:gd name="connsiteY118" fmla="*/ 130423 h 1341464"/>
                <a:gd name="connsiteX119" fmla="*/ 309593 w 2368797"/>
                <a:gd name="connsiteY119" fmla="*/ 150345 h 1341464"/>
                <a:gd name="connsiteX120" fmla="*/ 218657 w 2368797"/>
                <a:gd name="connsiteY120" fmla="*/ 146002 h 1341464"/>
                <a:gd name="connsiteX121" fmla="*/ 183156 w 2368797"/>
                <a:gd name="connsiteY121" fmla="*/ 126081 h 1341464"/>
                <a:gd name="connsiteX122" fmla="*/ 203077 w 2368797"/>
                <a:gd name="connsiteY122" fmla="*/ 90580 h 1341464"/>
                <a:gd name="connsiteX123" fmla="*/ 238578 w 2368797"/>
                <a:gd name="connsiteY123" fmla="*/ 110502 h 1341464"/>
                <a:gd name="connsiteX124" fmla="*/ 147656 w 2368797"/>
                <a:gd name="connsiteY124" fmla="*/ 106159 h 1341464"/>
                <a:gd name="connsiteX125" fmla="*/ 112155 w 2368797"/>
                <a:gd name="connsiteY125" fmla="*/ 86238 h 1341464"/>
                <a:gd name="connsiteX126" fmla="*/ 132076 w 2368797"/>
                <a:gd name="connsiteY126" fmla="*/ 50737 h 1341464"/>
                <a:gd name="connsiteX127" fmla="*/ 167577 w 2368797"/>
                <a:gd name="connsiteY127" fmla="*/ 70659 h 1341464"/>
                <a:gd name="connsiteX128" fmla="*/ 76613 w 2368797"/>
                <a:gd name="connsiteY128" fmla="*/ 112985 h 1341464"/>
                <a:gd name="connsiteX129" fmla="*/ -6 w 2368797"/>
                <a:gd name="connsiteY129" fmla="*/ -44 h 1341464"/>
                <a:gd name="connsiteX130" fmla="*/ 136392 w 2368797"/>
                <a:gd name="connsiteY130" fmla="*/ 6470 h 1341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2368797" h="1341464">
                  <a:moveTo>
                    <a:pt x="2348869" y="1341420"/>
                  </a:moveTo>
                  <a:lnTo>
                    <a:pt x="2313355" y="1321498"/>
                  </a:lnTo>
                  <a:lnTo>
                    <a:pt x="2333290" y="1285998"/>
                  </a:lnTo>
                  <a:lnTo>
                    <a:pt x="2368791" y="1305919"/>
                  </a:lnTo>
                  <a:close/>
                  <a:moveTo>
                    <a:pt x="2277855" y="1301577"/>
                  </a:moveTo>
                  <a:lnTo>
                    <a:pt x="2242354" y="1281655"/>
                  </a:lnTo>
                  <a:lnTo>
                    <a:pt x="2262276" y="1246154"/>
                  </a:lnTo>
                  <a:lnTo>
                    <a:pt x="2297776" y="1266076"/>
                  </a:lnTo>
                  <a:close/>
                  <a:moveTo>
                    <a:pt x="2206853" y="1261734"/>
                  </a:moveTo>
                  <a:lnTo>
                    <a:pt x="2171353" y="1241812"/>
                  </a:lnTo>
                  <a:lnTo>
                    <a:pt x="2191275" y="1206298"/>
                  </a:lnTo>
                  <a:lnTo>
                    <a:pt x="2226775" y="1226233"/>
                  </a:lnTo>
                  <a:close/>
                  <a:moveTo>
                    <a:pt x="2135839" y="1221877"/>
                  </a:moveTo>
                  <a:lnTo>
                    <a:pt x="2100338" y="1201955"/>
                  </a:lnTo>
                  <a:lnTo>
                    <a:pt x="2120259" y="1166455"/>
                  </a:lnTo>
                  <a:lnTo>
                    <a:pt x="2155774" y="1186376"/>
                  </a:lnTo>
                  <a:close/>
                  <a:moveTo>
                    <a:pt x="2064837" y="1182033"/>
                  </a:moveTo>
                  <a:lnTo>
                    <a:pt x="2029336" y="1162112"/>
                  </a:lnTo>
                  <a:lnTo>
                    <a:pt x="2049258" y="1126611"/>
                  </a:lnTo>
                  <a:lnTo>
                    <a:pt x="2084759" y="1146533"/>
                  </a:lnTo>
                  <a:close/>
                  <a:moveTo>
                    <a:pt x="1993836" y="1142191"/>
                  </a:moveTo>
                  <a:lnTo>
                    <a:pt x="1958322" y="1122269"/>
                  </a:lnTo>
                  <a:lnTo>
                    <a:pt x="1978257" y="1086768"/>
                  </a:lnTo>
                  <a:lnTo>
                    <a:pt x="2013758" y="1106690"/>
                  </a:lnTo>
                  <a:close/>
                  <a:moveTo>
                    <a:pt x="1922821" y="1102347"/>
                  </a:moveTo>
                  <a:lnTo>
                    <a:pt x="1887321" y="1082412"/>
                  </a:lnTo>
                  <a:lnTo>
                    <a:pt x="1907243" y="1046911"/>
                  </a:lnTo>
                  <a:lnTo>
                    <a:pt x="1942743" y="1066833"/>
                  </a:lnTo>
                  <a:close/>
                  <a:moveTo>
                    <a:pt x="1851820" y="1062490"/>
                  </a:moveTo>
                  <a:lnTo>
                    <a:pt x="1816320" y="1042569"/>
                  </a:lnTo>
                  <a:lnTo>
                    <a:pt x="1836241" y="1007068"/>
                  </a:lnTo>
                  <a:lnTo>
                    <a:pt x="1871742" y="1026990"/>
                  </a:lnTo>
                  <a:close/>
                  <a:moveTo>
                    <a:pt x="1780806" y="1022647"/>
                  </a:moveTo>
                  <a:lnTo>
                    <a:pt x="1745305" y="1002726"/>
                  </a:lnTo>
                  <a:lnTo>
                    <a:pt x="1765226" y="967225"/>
                  </a:lnTo>
                  <a:lnTo>
                    <a:pt x="1800727" y="987147"/>
                  </a:lnTo>
                  <a:close/>
                  <a:moveTo>
                    <a:pt x="1709804" y="982804"/>
                  </a:moveTo>
                  <a:lnTo>
                    <a:pt x="1674303" y="962883"/>
                  </a:lnTo>
                  <a:lnTo>
                    <a:pt x="1694225" y="927368"/>
                  </a:lnTo>
                  <a:lnTo>
                    <a:pt x="1729725" y="947290"/>
                  </a:lnTo>
                  <a:close/>
                  <a:moveTo>
                    <a:pt x="1638789" y="942947"/>
                  </a:moveTo>
                  <a:lnTo>
                    <a:pt x="1603289" y="923026"/>
                  </a:lnTo>
                  <a:lnTo>
                    <a:pt x="1623210" y="887525"/>
                  </a:lnTo>
                  <a:lnTo>
                    <a:pt x="1658724" y="907447"/>
                  </a:lnTo>
                  <a:close/>
                  <a:moveTo>
                    <a:pt x="1567788" y="903104"/>
                  </a:moveTo>
                  <a:lnTo>
                    <a:pt x="1532288" y="883183"/>
                  </a:lnTo>
                  <a:lnTo>
                    <a:pt x="1552209" y="847682"/>
                  </a:lnTo>
                  <a:lnTo>
                    <a:pt x="1587710" y="867604"/>
                  </a:lnTo>
                  <a:close/>
                  <a:moveTo>
                    <a:pt x="1496787" y="863261"/>
                  </a:moveTo>
                  <a:lnTo>
                    <a:pt x="1461273" y="843339"/>
                  </a:lnTo>
                  <a:lnTo>
                    <a:pt x="1481208" y="807825"/>
                  </a:lnTo>
                  <a:lnTo>
                    <a:pt x="1516709" y="827760"/>
                  </a:lnTo>
                  <a:close/>
                  <a:moveTo>
                    <a:pt x="1425772" y="823404"/>
                  </a:moveTo>
                  <a:lnTo>
                    <a:pt x="1390272" y="803483"/>
                  </a:lnTo>
                  <a:lnTo>
                    <a:pt x="1410193" y="767982"/>
                  </a:lnTo>
                  <a:lnTo>
                    <a:pt x="1445694" y="787904"/>
                  </a:lnTo>
                  <a:close/>
                  <a:moveTo>
                    <a:pt x="1354771" y="783561"/>
                  </a:moveTo>
                  <a:lnTo>
                    <a:pt x="1319270" y="763639"/>
                  </a:lnTo>
                  <a:lnTo>
                    <a:pt x="1339192" y="728139"/>
                  </a:lnTo>
                  <a:lnTo>
                    <a:pt x="1374692" y="748061"/>
                  </a:lnTo>
                  <a:close/>
                  <a:moveTo>
                    <a:pt x="1283756" y="743718"/>
                  </a:moveTo>
                  <a:lnTo>
                    <a:pt x="1248255" y="723796"/>
                  </a:lnTo>
                  <a:lnTo>
                    <a:pt x="1268177" y="688296"/>
                  </a:lnTo>
                  <a:lnTo>
                    <a:pt x="1303691" y="708217"/>
                  </a:lnTo>
                  <a:close/>
                  <a:moveTo>
                    <a:pt x="1212755" y="703875"/>
                  </a:moveTo>
                  <a:lnTo>
                    <a:pt x="1177254" y="683940"/>
                  </a:lnTo>
                  <a:lnTo>
                    <a:pt x="1197176" y="648439"/>
                  </a:lnTo>
                  <a:lnTo>
                    <a:pt x="1232677" y="668361"/>
                  </a:lnTo>
                  <a:close/>
                  <a:moveTo>
                    <a:pt x="1141754" y="664018"/>
                  </a:moveTo>
                  <a:lnTo>
                    <a:pt x="1106240" y="644096"/>
                  </a:lnTo>
                  <a:lnTo>
                    <a:pt x="1126175" y="608596"/>
                  </a:lnTo>
                  <a:lnTo>
                    <a:pt x="1161676" y="628517"/>
                  </a:lnTo>
                  <a:close/>
                  <a:moveTo>
                    <a:pt x="1070739" y="624175"/>
                  </a:moveTo>
                  <a:lnTo>
                    <a:pt x="1035238" y="604253"/>
                  </a:lnTo>
                  <a:lnTo>
                    <a:pt x="1055160" y="568753"/>
                  </a:lnTo>
                  <a:lnTo>
                    <a:pt x="1090660" y="588674"/>
                  </a:lnTo>
                  <a:close/>
                  <a:moveTo>
                    <a:pt x="999737" y="584332"/>
                  </a:moveTo>
                  <a:lnTo>
                    <a:pt x="964237" y="564410"/>
                  </a:lnTo>
                  <a:lnTo>
                    <a:pt x="984158" y="528896"/>
                  </a:lnTo>
                  <a:lnTo>
                    <a:pt x="1019659" y="548818"/>
                  </a:lnTo>
                  <a:close/>
                  <a:moveTo>
                    <a:pt x="928723" y="544475"/>
                  </a:moveTo>
                  <a:lnTo>
                    <a:pt x="893222" y="524553"/>
                  </a:lnTo>
                  <a:lnTo>
                    <a:pt x="913144" y="489053"/>
                  </a:lnTo>
                  <a:lnTo>
                    <a:pt x="948658" y="508974"/>
                  </a:lnTo>
                  <a:close/>
                  <a:moveTo>
                    <a:pt x="857722" y="504632"/>
                  </a:moveTo>
                  <a:lnTo>
                    <a:pt x="822221" y="484710"/>
                  </a:lnTo>
                  <a:lnTo>
                    <a:pt x="842143" y="449209"/>
                  </a:lnTo>
                  <a:lnTo>
                    <a:pt x="877643" y="469131"/>
                  </a:lnTo>
                  <a:close/>
                  <a:moveTo>
                    <a:pt x="786721" y="464789"/>
                  </a:moveTo>
                  <a:lnTo>
                    <a:pt x="751207" y="444867"/>
                  </a:lnTo>
                  <a:lnTo>
                    <a:pt x="771128" y="409353"/>
                  </a:lnTo>
                  <a:lnTo>
                    <a:pt x="806642" y="429288"/>
                  </a:lnTo>
                  <a:close/>
                  <a:moveTo>
                    <a:pt x="715706" y="424932"/>
                  </a:moveTo>
                  <a:lnTo>
                    <a:pt x="680205" y="405010"/>
                  </a:lnTo>
                  <a:lnTo>
                    <a:pt x="700126" y="369510"/>
                  </a:lnTo>
                  <a:lnTo>
                    <a:pt x="735627" y="389431"/>
                  </a:lnTo>
                  <a:close/>
                  <a:moveTo>
                    <a:pt x="644704" y="385089"/>
                  </a:moveTo>
                  <a:lnTo>
                    <a:pt x="609190" y="365167"/>
                  </a:lnTo>
                  <a:lnTo>
                    <a:pt x="629125" y="329667"/>
                  </a:lnTo>
                  <a:lnTo>
                    <a:pt x="664626" y="349588"/>
                  </a:lnTo>
                  <a:close/>
                  <a:moveTo>
                    <a:pt x="573690" y="345245"/>
                  </a:moveTo>
                  <a:lnTo>
                    <a:pt x="538189" y="325324"/>
                  </a:lnTo>
                  <a:lnTo>
                    <a:pt x="558111" y="289823"/>
                  </a:lnTo>
                  <a:lnTo>
                    <a:pt x="593612" y="309745"/>
                  </a:lnTo>
                  <a:close/>
                  <a:moveTo>
                    <a:pt x="502689" y="305402"/>
                  </a:moveTo>
                  <a:lnTo>
                    <a:pt x="467188" y="285467"/>
                  </a:lnTo>
                  <a:lnTo>
                    <a:pt x="487109" y="249967"/>
                  </a:lnTo>
                  <a:lnTo>
                    <a:pt x="522610" y="269888"/>
                  </a:lnTo>
                  <a:close/>
                  <a:moveTo>
                    <a:pt x="431674" y="265546"/>
                  </a:moveTo>
                  <a:lnTo>
                    <a:pt x="396173" y="245624"/>
                  </a:lnTo>
                  <a:lnTo>
                    <a:pt x="416095" y="210123"/>
                  </a:lnTo>
                  <a:lnTo>
                    <a:pt x="451609" y="230045"/>
                  </a:lnTo>
                  <a:close/>
                  <a:moveTo>
                    <a:pt x="360673" y="225702"/>
                  </a:moveTo>
                  <a:lnTo>
                    <a:pt x="325172" y="205781"/>
                  </a:lnTo>
                  <a:lnTo>
                    <a:pt x="345093" y="170280"/>
                  </a:lnTo>
                  <a:lnTo>
                    <a:pt x="380594" y="190202"/>
                  </a:lnTo>
                  <a:close/>
                  <a:moveTo>
                    <a:pt x="289671" y="185859"/>
                  </a:moveTo>
                  <a:lnTo>
                    <a:pt x="254157" y="165938"/>
                  </a:lnTo>
                  <a:lnTo>
                    <a:pt x="274092" y="130423"/>
                  </a:lnTo>
                  <a:lnTo>
                    <a:pt x="309593" y="150345"/>
                  </a:lnTo>
                  <a:close/>
                  <a:moveTo>
                    <a:pt x="218657" y="146002"/>
                  </a:moveTo>
                  <a:lnTo>
                    <a:pt x="183156" y="126081"/>
                  </a:lnTo>
                  <a:lnTo>
                    <a:pt x="203077" y="90580"/>
                  </a:lnTo>
                  <a:lnTo>
                    <a:pt x="238578" y="110502"/>
                  </a:lnTo>
                  <a:close/>
                  <a:moveTo>
                    <a:pt x="147656" y="106159"/>
                  </a:moveTo>
                  <a:lnTo>
                    <a:pt x="112155" y="86238"/>
                  </a:lnTo>
                  <a:lnTo>
                    <a:pt x="132076" y="50737"/>
                  </a:lnTo>
                  <a:lnTo>
                    <a:pt x="167577" y="70659"/>
                  </a:lnTo>
                  <a:close/>
                  <a:moveTo>
                    <a:pt x="76613" y="112985"/>
                  </a:moveTo>
                  <a:lnTo>
                    <a:pt x="-6" y="-44"/>
                  </a:lnTo>
                  <a:lnTo>
                    <a:pt x="136392" y="6470"/>
                  </a:lnTo>
                  <a:close/>
                </a:path>
              </a:pathLst>
            </a:custGeom>
            <a:solidFill>
              <a:srgbClr val="7F7F7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9" name="TextBox 1268">
              <a:extLst>
                <a:ext uri="{FF2B5EF4-FFF2-40B4-BE49-F238E27FC236}">
                  <a16:creationId xmlns:a16="http://schemas.microsoft.com/office/drawing/2014/main" id="{7DF4B2A0-DBF1-542D-0D6B-A951FE0F4400}"/>
                </a:ext>
              </a:extLst>
            </p:cNvPr>
            <p:cNvSpPr txBox="1"/>
            <p:nvPr/>
          </p:nvSpPr>
          <p:spPr>
            <a:xfrm>
              <a:off x="23622813" y="30344624"/>
              <a:ext cx="929261" cy="403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523" spc="0" baseline="0" dirty="0" err="1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Tantala</a:t>
              </a:r>
              <a:endParaRPr lang="en-US" sz="1523" spc="0" baseline="0" dirty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1270" name="TextBox 1269">
              <a:extLst>
                <a:ext uri="{FF2B5EF4-FFF2-40B4-BE49-F238E27FC236}">
                  <a16:creationId xmlns:a16="http://schemas.microsoft.com/office/drawing/2014/main" id="{29777831-17CE-0C61-FF57-4BE71BE651E4}"/>
                </a:ext>
              </a:extLst>
            </p:cNvPr>
            <p:cNvSpPr txBox="1"/>
            <p:nvPr/>
          </p:nvSpPr>
          <p:spPr>
            <a:xfrm>
              <a:off x="24271397" y="30344624"/>
              <a:ext cx="1309237" cy="403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523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waveguide</a:t>
              </a: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AA93172D-DD78-BF3B-BC5B-3CA9ACB83B3A}"/>
                </a:ext>
              </a:extLst>
            </p:cNvPr>
            <p:cNvSpPr/>
            <p:nvPr/>
          </p:nvSpPr>
          <p:spPr>
            <a:xfrm rot="10800000" flipV="1">
              <a:off x="21826237" y="27717315"/>
              <a:ext cx="2749358" cy="588403"/>
            </a:xfrm>
            <a:custGeom>
              <a:avLst/>
              <a:gdLst>
                <a:gd name="connsiteX0" fmla="*/ 8167 w 2749358"/>
                <a:gd name="connsiteY0" fmla="*/ 50 h 588403"/>
                <a:gd name="connsiteX1" fmla="*/ 48136 w 2749358"/>
                <a:gd name="connsiteY1" fmla="*/ 7790 h 588403"/>
                <a:gd name="connsiteX2" fmla="*/ 40396 w 2749358"/>
                <a:gd name="connsiteY2" fmla="*/ 47759 h 588403"/>
                <a:gd name="connsiteX3" fmla="*/ 427 w 2749358"/>
                <a:gd name="connsiteY3" fmla="*/ 40019 h 588403"/>
                <a:gd name="connsiteX4" fmla="*/ 88105 w 2749358"/>
                <a:gd name="connsiteY4" fmla="*/ 15530 h 588403"/>
                <a:gd name="connsiteX5" fmla="*/ 128075 w 2749358"/>
                <a:gd name="connsiteY5" fmla="*/ 23271 h 588403"/>
                <a:gd name="connsiteX6" fmla="*/ 120334 w 2749358"/>
                <a:gd name="connsiteY6" fmla="*/ 63240 h 588403"/>
                <a:gd name="connsiteX7" fmla="*/ 80365 w 2749358"/>
                <a:gd name="connsiteY7" fmla="*/ 55499 h 588403"/>
                <a:gd name="connsiteX8" fmla="*/ 168044 w 2749358"/>
                <a:gd name="connsiteY8" fmla="*/ 31011 h 588403"/>
                <a:gd name="connsiteX9" fmla="*/ 208013 w 2749358"/>
                <a:gd name="connsiteY9" fmla="*/ 38751 h 588403"/>
                <a:gd name="connsiteX10" fmla="*/ 200272 w 2749358"/>
                <a:gd name="connsiteY10" fmla="*/ 78720 h 588403"/>
                <a:gd name="connsiteX11" fmla="*/ 160303 w 2749358"/>
                <a:gd name="connsiteY11" fmla="*/ 70980 h 588403"/>
                <a:gd name="connsiteX12" fmla="*/ 247982 w 2749358"/>
                <a:gd name="connsiteY12" fmla="*/ 46492 h 588403"/>
                <a:gd name="connsiteX13" fmla="*/ 287950 w 2749358"/>
                <a:gd name="connsiteY13" fmla="*/ 54232 h 588403"/>
                <a:gd name="connsiteX14" fmla="*/ 280211 w 2749358"/>
                <a:gd name="connsiteY14" fmla="*/ 94201 h 588403"/>
                <a:gd name="connsiteX15" fmla="*/ 240242 w 2749358"/>
                <a:gd name="connsiteY15" fmla="*/ 86461 h 588403"/>
                <a:gd name="connsiteX16" fmla="*/ 327920 w 2749358"/>
                <a:gd name="connsiteY16" fmla="*/ 61972 h 588403"/>
                <a:gd name="connsiteX17" fmla="*/ 367889 w 2749358"/>
                <a:gd name="connsiteY17" fmla="*/ 69713 h 588403"/>
                <a:gd name="connsiteX18" fmla="*/ 360148 w 2749358"/>
                <a:gd name="connsiteY18" fmla="*/ 109682 h 588403"/>
                <a:gd name="connsiteX19" fmla="*/ 320179 w 2749358"/>
                <a:gd name="connsiteY19" fmla="*/ 101941 h 588403"/>
                <a:gd name="connsiteX20" fmla="*/ 407859 w 2749358"/>
                <a:gd name="connsiteY20" fmla="*/ 77453 h 588403"/>
                <a:gd name="connsiteX21" fmla="*/ 447828 w 2749358"/>
                <a:gd name="connsiteY21" fmla="*/ 85193 h 588403"/>
                <a:gd name="connsiteX22" fmla="*/ 440087 w 2749358"/>
                <a:gd name="connsiteY22" fmla="*/ 125163 h 588403"/>
                <a:gd name="connsiteX23" fmla="*/ 400118 w 2749358"/>
                <a:gd name="connsiteY23" fmla="*/ 117422 h 588403"/>
                <a:gd name="connsiteX24" fmla="*/ 487796 w 2749358"/>
                <a:gd name="connsiteY24" fmla="*/ 92934 h 588403"/>
                <a:gd name="connsiteX25" fmla="*/ 527765 w 2749358"/>
                <a:gd name="connsiteY25" fmla="*/ 100674 h 588403"/>
                <a:gd name="connsiteX26" fmla="*/ 520025 w 2749358"/>
                <a:gd name="connsiteY26" fmla="*/ 140643 h 588403"/>
                <a:gd name="connsiteX27" fmla="*/ 480057 w 2749358"/>
                <a:gd name="connsiteY27" fmla="*/ 132903 h 588403"/>
                <a:gd name="connsiteX28" fmla="*/ 567735 w 2749358"/>
                <a:gd name="connsiteY28" fmla="*/ 108414 h 588403"/>
                <a:gd name="connsiteX29" fmla="*/ 607704 w 2749358"/>
                <a:gd name="connsiteY29" fmla="*/ 116155 h 588403"/>
                <a:gd name="connsiteX30" fmla="*/ 599963 w 2749358"/>
                <a:gd name="connsiteY30" fmla="*/ 156124 h 588403"/>
                <a:gd name="connsiteX31" fmla="*/ 559994 w 2749358"/>
                <a:gd name="connsiteY31" fmla="*/ 148384 h 588403"/>
                <a:gd name="connsiteX32" fmla="*/ 647673 w 2749358"/>
                <a:gd name="connsiteY32" fmla="*/ 123895 h 588403"/>
                <a:gd name="connsiteX33" fmla="*/ 687642 w 2749358"/>
                <a:gd name="connsiteY33" fmla="*/ 131636 h 588403"/>
                <a:gd name="connsiteX34" fmla="*/ 679902 w 2749358"/>
                <a:gd name="connsiteY34" fmla="*/ 171605 h 588403"/>
                <a:gd name="connsiteX35" fmla="*/ 639933 w 2749358"/>
                <a:gd name="connsiteY35" fmla="*/ 163864 h 588403"/>
                <a:gd name="connsiteX36" fmla="*/ 727611 w 2749358"/>
                <a:gd name="connsiteY36" fmla="*/ 139376 h 588403"/>
                <a:gd name="connsiteX37" fmla="*/ 767580 w 2749358"/>
                <a:gd name="connsiteY37" fmla="*/ 147116 h 588403"/>
                <a:gd name="connsiteX38" fmla="*/ 759840 w 2749358"/>
                <a:gd name="connsiteY38" fmla="*/ 187085 h 588403"/>
                <a:gd name="connsiteX39" fmla="*/ 719870 w 2749358"/>
                <a:gd name="connsiteY39" fmla="*/ 179344 h 588403"/>
                <a:gd name="connsiteX40" fmla="*/ 807550 w 2749358"/>
                <a:gd name="connsiteY40" fmla="*/ 154857 h 588403"/>
                <a:gd name="connsiteX41" fmla="*/ 847518 w 2749358"/>
                <a:gd name="connsiteY41" fmla="*/ 162597 h 588403"/>
                <a:gd name="connsiteX42" fmla="*/ 839778 w 2749358"/>
                <a:gd name="connsiteY42" fmla="*/ 202566 h 588403"/>
                <a:gd name="connsiteX43" fmla="*/ 799809 w 2749358"/>
                <a:gd name="connsiteY43" fmla="*/ 194826 h 588403"/>
                <a:gd name="connsiteX44" fmla="*/ 887487 w 2749358"/>
                <a:gd name="connsiteY44" fmla="*/ 170338 h 588403"/>
                <a:gd name="connsiteX45" fmla="*/ 927457 w 2749358"/>
                <a:gd name="connsiteY45" fmla="*/ 178078 h 588403"/>
                <a:gd name="connsiteX46" fmla="*/ 919716 w 2749358"/>
                <a:gd name="connsiteY46" fmla="*/ 218046 h 588403"/>
                <a:gd name="connsiteX47" fmla="*/ 879747 w 2749358"/>
                <a:gd name="connsiteY47" fmla="*/ 210307 h 588403"/>
                <a:gd name="connsiteX48" fmla="*/ 967426 w 2749358"/>
                <a:gd name="connsiteY48" fmla="*/ 185818 h 588403"/>
                <a:gd name="connsiteX49" fmla="*/ 1007395 w 2749358"/>
                <a:gd name="connsiteY49" fmla="*/ 193558 h 588403"/>
                <a:gd name="connsiteX50" fmla="*/ 999655 w 2749358"/>
                <a:gd name="connsiteY50" fmla="*/ 233528 h 588403"/>
                <a:gd name="connsiteX51" fmla="*/ 959685 w 2749358"/>
                <a:gd name="connsiteY51" fmla="*/ 225787 h 588403"/>
                <a:gd name="connsiteX52" fmla="*/ 1047363 w 2749358"/>
                <a:gd name="connsiteY52" fmla="*/ 201299 h 588403"/>
                <a:gd name="connsiteX53" fmla="*/ 1087333 w 2749358"/>
                <a:gd name="connsiteY53" fmla="*/ 209039 h 588403"/>
                <a:gd name="connsiteX54" fmla="*/ 1079592 w 2749358"/>
                <a:gd name="connsiteY54" fmla="*/ 249007 h 588403"/>
                <a:gd name="connsiteX55" fmla="*/ 1039624 w 2749358"/>
                <a:gd name="connsiteY55" fmla="*/ 241268 h 588403"/>
                <a:gd name="connsiteX56" fmla="*/ 1127302 w 2749358"/>
                <a:gd name="connsiteY56" fmla="*/ 216779 h 588403"/>
                <a:gd name="connsiteX57" fmla="*/ 1167272 w 2749358"/>
                <a:gd name="connsiteY57" fmla="*/ 224519 h 588403"/>
                <a:gd name="connsiteX58" fmla="*/ 1159531 w 2749358"/>
                <a:gd name="connsiteY58" fmla="*/ 264489 h 588403"/>
                <a:gd name="connsiteX59" fmla="*/ 1119562 w 2749358"/>
                <a:gd name="connsiteY59" fmla="*/ 256748 h 588403"/>
                <a:gd name="connsiteX60" fmla="*/ 1207241 w 2749358"/>
                <a:gd name="connsiteY60" fmla="*/ 232260 h 588403"/>
                <a:gd name="connsiteX61" fmla="*/ 1247209 w 2749358"/>
                <a:gd name="connsiteY61" fmla="*/ 240001 h 588403"/>
                <a:gd name="connsiteX62" fmla="*/ 1239470 w 2749358"/>
                <a:gd name="connsiteY62" fmla="*/ 279970 h 588403"/>
                <a:gd name="connsiteX63" fmla="*/ 1199500 w 2749358"/>
                <a:gd name="connsiteY63" fmla="*/ 272229 h 588403"/>
                <a:gd name="connsiteX64" fmla="*/ 1287178 w 2749358"/>
                <a:gd name="connsiteY64" fmla="*/ 247741 h 588403"/>
                <a:gd name="connsiteX65" fmla="*/ 1327148 w 2749358"/>
                <a:gd name="connsiteY65" fmla="*/ 255481 h 588403"/>
                <a:gd name="connsiteX66" fmla="*/ 1319407 w 2749358"/>
                <a:gd name="connsiteY66" fmla="*/ 295450 h 588403"/>
                <a:gd name="connsiteX67" fmla="*/ 1279438 w 2749358"/>
                <a:gd name="connsiteY67" fmla="*/ 287709 h 588403"/>
                <a:gd name="connsiteX68" fmla="*/ 1367121 w 2749358"/>
                <a:gd name="connsiteY68" fmla="*/ 263221 h 588403"/>
                <a:gd name="connsiteX69" fmla="*/ 1407087 w 2749358"/>
                <a:gd name="connsiteY69" fmla="*/ 270962 h 588403"/>
                <a:gd name="connsiteX70" fmla="*/ 1399351 w 2749358"/>
                <a:gd name="connsiteY70" fmla="*/ 310931 h 588403"/>
                <a:gd name="connsiteX71" fmla="*/ 1359377 w 2749358"/>
                <a:gd name="connsiteY71" fmla="*/ 303191 h 588403"/>
                <a:gd name="connsiteX72" fmla="*/ 1447052 w 2749358"/>
                <a:gd name="connsiteY72" fmla="*/ 278703 h 588403"/>
                <a:gd name="connsiteX73" fmla="*/ 1487031 w 2749358"/>
                <a:gd name="connsiteY73" fmla="*/ 286442 h 588403"/>
                <a:gd name="connsiteX74" fmla="*/ 1479282 w 2749358"/>
                <a:gd name="connsiteY74" fmla="*/ 326411 h 588403"/>
                <a:gd name="connsiteX75" fmla="*/ 1439317 w 2749358"/>
                <a:gd name="connsiteY75" fmla="*/ 318671 h 588403"/>
                <a:gd name="connsiteX76" fmla="*/ 1526996 w 2749358"/>
                <a:gd name="connsiteY76" fmla="*/ 294183 h 588403"/>
                <a:gd name="connsiteX77" fmla="*/ 1566961 w 2749358"/>
                <a:gd name="connsiteY77" fmla="*/ 301923 h 588403"/>
                <a:gd name="connsiteX78" fmla="*/ 1559226 w 2749358"/>
                <a:gd name="connsiteY78" fmla="*/ 341893 h 588403"/>
                <a:gd name="connsiteX79" fmla="*/ 1519247 w 2749358"/>
                <a:gd name="connsiteY79" fmla="*/ 334152 h 588403"/>
                <a:gd name="connsiteX80" fmla="*/ 1606927 w 2749358"/>
                <a:gd name="connsiteY80" fmla="*/ 309664 h 588403"/>
                <a:gd name="connsiteX81" fmla="*/ 1646906 w 2749358"/>
                <a:gd name="connsiteY81" fmla="*/ 317405 h 588403"/>
                <a:gd name="connsiteX82" fmla="*/ 1639157 w 2749358"/>
                <a:gd name="connsiteY82" fmla="*/ 357373 h 588403"/>
                <a:gd name="connsiteX83" fmla="*/ 1599192 w 2749358"/>
                <a:gd name="connsiteY83" fmla="*/ 349633 h 588403"/>
                <a:gd name="connsiteX84" fmla="*/ 1686871 w 2749358"/>
                <a:gd name="connsiteY84" fmla="*/ 325144 h 588403"/>
                <a:gd name="connsiteX85" fmla="*/ 1726836 w 2749358"/>
                <a:gd name="connsiteY85" fmla="*/ 332884 h 588403"/>
                <a:gd name="connsiteX86" fmla="*/ 1719101 w 2749358"/>
                <a:gd name="connsiteY86" fmla="*/ 372854 h 588403"/>
                <a:gd name="connsiteX87" fmla="*/ 1679136 w 2749358"/>
                <a:gd name="connsiteY87" fmla="*/ 365113 h 588403"/>
                <a:gd name="connsiteX88" fmla="*/ 1766802 w 2749358"/>
                <a:gd name="connsiteY88" fmla="*/ 340625 h 588403"/>
                <a:gd name="connsiteX89" fmla="*/ 1806780 w 2749358"/>
                <a:gd name="connsiteY89" fmla="*/ 348366 h 588403"/>
                <a:gd name="connsiteX90" fmla="*/ 1799032 w 2749358"/>
                <a:gd name="connsiteY90" fmla="*/ 388334 h 588403"/>
                <a:gd name="connsiteX91" fmla="*/ 1759066 w 2749358"/>
                <a:gd name="connsiteY91" fmla="*/ 380594 h 588403"/>
                <a:gd name="connsiteX92" fmla="*/ 1846746 w 2749358"/>
                <a:gd name="connsiteY92" fmla="*/ 356105 h 588403"/>
                <a:gd name="connsiteX93" fmla="*/ 1886711 w 2749358"/>
                <a:gd name="connsiteY93" fmla="*/ 363846 h 588403"/>
                <a:gd name="connsiteX94" fmla="*/ 1878976 w 2749358"/>
                <a:gd name="connsiteY94" fmla="*/ 403815 h 588403"/>
                <a:gd name="connsiteX95" fmla="*/ 1839011 w 2749358"/>
                <a:gd name="connsiteY95" fmla="*/ 396074 h 588403"/>
                <a:gd name="connsiteX96" fmla="*/ 1926690 w 2749358"/>
                <a:gd name="connsiteY96" fmla="*/ 371586 h 588403"/>
                <a:gd name="connsiteX97" fmla="*/ 1966655 w 2749358"/>
                <a:gd name="connsiteY97" fmla="*/ 379327 h 588403"/>
                <a:gd name="connsiteX98" fmla="*/ 1958907 w 2749358"/>
                <a:gd name="connsiteY98" fmla="*/ 419296 h 588403"/>
                <a:gd name="connsiteX99" fmla="*/ 1918941 w 2749358"/>
                <a:gd name="connsiteY99" fmla="*/ 411556 h 588403"/>
                <a:gd name="connsiteX100" fmla="*/ 2006621 w 2749358"/>
                <a:gd name="connsiteY100" fmla="*/ 387068 h 588403"/>
                <a:gd name="connsiteX101" fmla="*/ 2046586 w 2749358"/>
                <a:gd name="connsiteY101" fmla="*/ 394807 h 588403"/>
                <a:gd name="connsiteX102" fmla="*/ 2038851 w 2749358"/>
                <a:gd name="connsiteY102" fmla="*/ 434776 h 588403"/>
                <a:gd name="connsiteX103" fmla="*/ 1998885 w 2749358"/>
                <a:gd name="connsiteY103" fmla="*/ 427036 h 588403"/>
                <a:gd name="connsiteX104" fmla="*/ 2086565 w 2749358"/>
                <a:gd name="connsiteY104" fmla="*/ 402548 h 588403"/>
                <a:gd name="connsiteX105" fmla="*/ 2126530 w 2749358"/>
                <a:gd name="connsiteY105" fmla="*/ 410288 h 588403"/>
                <a:gd name="connsiteX106" fmla="*/ 2118795 w 2749358"/>
                <a:gd name="connsiteY106" fmla="*/ 450258 h 588403"/>
                <a:gd name="connsiteX107" fmla="*/ 2078816 w 2749358"/>
                <a:gd name="connsiteY107" fmla="*/ 442517 h 588403"/>
                <a:gd name="connsiteX108" fmla="*/ 2166496 w 2749358"/>
                <a:gd name="connsiteY108" fmla="*/ 418029 h 588403"/>
                <a:gd name="connsiteX109" fmla="*/ 2206461 w 2749358"/>
                <a:gd name="connsiteY109" fmla="*/ 425768 h 588403"/>
                <a:gd name="connsiteX110" fmla="*/ 2198726 w 2749358"/>
                <a:gd name="connsiteY110" fmla="*/ 465738 h 588403"/>
                <a:gd name="connsiteX111" fmla="*/ 2158760 w 2749358"/>
                <a:gd name="connsiteY111" fmla="*/ 457997 h 588403"/>
                <a:gd name="connsiteX112" fmla="*/ 2246440 w 2749358"/>
                <a:gd name="connsiteY112" fmla="*/ 433509 h 588403"/>
                <a:gd name="connsiteX113" fmla="*/ 2286405 w 2749358"/>
                <a:gd name="connsiteY113" fmla="*/ 441249 h 588403"/>
                <a:gd name="connsiteX114" fmla="*/ 2278670 w 2749358"/>
                <a:gd name="connsiteY114" fmla="*/ 481219 h 588403"/>
                <a:gd name="connsiteX115" fmla="*/ 2238691 w 2749358"/>
                <a:gd name="connsiteY115" fmla="*/ 473478 h 588403"/>
                <a:gd name="connsiteX116" fmla="*/ 2326370 w 2749358"/>
                <a:gd name="connsiteY116" fmla="*/ 448990 h 588403"/>
                <a:gd name="connsiteX117" fmla="*/ 2366349 w 2749358"/>
                <a:gd name="connsiteY117" fmla="*/ 456731 h 588403"/>
                <a:gd name="connsiteX118" fmla="*/ 2358600 w 2749358"/>
                <a:gd name="connsiteY118" fmla="*/ 496699 h 588403"/>
                <a:gd name="connsiteX119" fmla="*/ 2318635 w 2749358"/>
                <a:gd name="connsiteY119" fmla="*/ 488959 h 588403"/>
                <a:gd name="connsiteX120" fmla="*/ 2406315 w 2749358"/>
                <a:gd name="connsiteY120" fmla="*/ 464470 h 588403"/>
                <a:gd name="connsiteX121" fmla="*/ 2446280 w 2749358"/>
                <a:gd name="connsiteY121" fmla="*/ 472211 h 588403"/>
                <a:gd name="connsiteX122" fmla="*/ 2438545 w 2749358"/>
                <a:gd name="connsiteY122" fmla="*/ 512180 h 588403"/>
                <a:gd name="connsiteX123" fmla="*/ 2398580 w 2749358"/>
                <a:gd name="connsiteY123" fmla="*/ 504439 h 588403"/>
                <a:gd name="connsiteX124" fmla="*/ 2486245 w 2749358"/>
                <a:gd name="connsiteY124" fmla="*/ 479951 h 588403"/>
                <a:gd name="connsiteX125" fmla="*/ 2526224 w 2749358"/>
                <a:gd name="connsiteY125" fmla="*/ 487692 h 588403"/>
                <a:gd name="connsiteX126" fmla="*/ 2518475 w 2749358"/>
                <a:gd name="connsiteY126" fmla="*/ 527660 h 588403"/>
                <a:gd name="connsiteX127" fmla="*/ 2478510 w 2749358"/>
                <a:gd name="connsiteY127" fmla="*/ 519921 h 588403"/>
                <a:gd name="connsiteX128" fmla="*/ 2566190 w 2749358"/>
                <a:gd name="connsiteY128" fmla="*/ 495431 h 588403"/>
                <a:gd name="connsiteX129" fmla="*/ 2606155 w 2749358"/>
                <a:gd name="connsiteY129" fmla="*/ 503172 h 588403"/>
                <a:gd name="connsiteX130" fmla="*/ 2598420 w 2749358"/>
                <a:gd name="connsiteY130" fmla="*/ 543141 h 588403"/>
                <a:gd name="connsiteX131" fmla="*/ 2558454 w 2749358"/>
                <a:gd name="connsiteY131" fmla="*/ 535401 h 588403"/>
                <a:gd name="connsiteX132" fmla="*/ 2646134 w 2749358"/>
                <a:gd name="connsiteY132" fmla="*/ 510913 h 588403"/>
                <a:gd name="connsiteX133" fmla="*/ 2653733 w 2749358"/>
                <a:gd name="connsiteY133" fmla="*/ 512385 h 588403"/>
                <a:gd name="connsiteX134" fmla="*/ 2645998 w 2749358"/>
                <a:gd name="connsiteY134" fmla="*/ 552354 h 588403"/>
                <a:gd name="connsiteX135" fmla="*/ 2638385 w 2749358"/>
                <a:gd name="connsiteY135" fmla="*/ 550882 h 588403"/>
                <a:gd name="connsiteX136" fmla="*/ 2641493 w 2749358"/>
                <a:gd name="connsiteY136" fmla="*/ 468547 h 588403"/>
                <a:gd name="connsiteX137" fmla="*/ 2749786 w 2749358"/>
                <a:gd name="connsiteY137" fmla="*/ 551721 h 588403"/>
                <a:gd name="connsiteX138" fmla="*/ 2618273 w 2749358"/>
                <a:gd name="connsiteY138" fmla="*/ 588453 h 58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2749358" h="588403">
                  <a:moveTo>
                    <a:pt x="8167" y="50"/>
                  </a:moveTo>
                  <a:lnTo>
                    <a:pt x="48136" y="7790"/>
                  </a:lnTo>
                  <a:lnTo>
                    <a:pt x="40396" y="47759"/>
                  </a:lnTo>
                  <a:lnTo>
                    <a:pt x="427" y="40019"/>
                  </a:lnTo>
                  <a:close/>
                  <a:moveTo>
                    <a:pt x="88105" y="15530"/>
                  </a:moveTo>
                  <a:lnTo>
                    <a:pt x="128075" y="23271"/>
                  </a:lnTo>
                  <a:lnTo>
                    <a:pt x="120334" y="63240"/>
                  </a:lnTo>
                  <a:lnTo>
                    <a:pt x="80365" y="55499"/>
                  </a:lnTo>
                  <a:close/>
                  <a:moveTo>
                    <a:pt x="168044" y="31011"/>
                  </a:moveTo>
                  <a:lnTo>
                    <a:pt x="208013" y="38751"/>
                  </a:lnTo>
                  <a:lnTo>
                    <a:pt x="200272" y="78720"/>
                  </a:lnTo>
                  <a:lnTo>
                    <a:pt x="160303" y="70980"/>
                  </a:lnTo>
                  <a:close/>
                  <a:moveTo>
                    <a:pt x="247982" y="46492"/>
                  </a:moveTo>
                  <a:lnTo>
                    <a:pt x="287950" y="54232"/>
                  </a:lnTo>
                  <a:lnTo>
                    <a:pt x="280211" y="94201"/>
                  </a:lnTo>
                  <a:lnTo>
                    <a:pt x="240242" y="86461"/>
                  </a:lnTo>
                  <a:close/>
                  <a:moveTo>
                    <a:pt x="327920" y="61972"/>
                  </a:moveTo>
                  <a:lnTo>
                    <a:pt x="367889" y="69713"/>
                  </a:lnTo>
                  <a:lnTo>
                    <a:pt x="360148" y="109682"/>
                  </a:lnTo>
                  <a:lnTo>
                    <a:pt x="320179" y="101941"/>
                  </a:lnTo>
                  <a:close/>
                  <a:moveTo>
                    <a:pt x="407859" y="77453"/>
                  </a:moveTo>
                  <a:lnTo>
                    <a:pt x="447828" y="85193"/>
                  </a:lnTo>
                  <a:lnTo>
                    <a:pt x="440087" y="125163"/>
                  </a:lnTo>
                  <a:lnTo>
                    <a:pt x="400118" y="117422"/>
                  </a:lnTo>
                  <a:close/>
                  <a:moveTo>
                    <a:pt x="487796" y="92934"/>
                  </a:moveTo>
                  <a:lnTo>
                    <a:pt x="527765" y="100674"/>
                  </a:lnTo>
                  <a:lnTo>
                    <a:pt x="520025" y="140643"/>
                  </a:lnTo>
                  <a:lnTo>
                    <a:pt x="480057" y="132903"/>
                  </a:lnTo>
                  <a:close/>
                  <a:moveTo>
                    <a:pt x="567735" y="108414"/>
                  </a:moveTo>
                  <a:lnTo>
                    <a:pt x="607704" y="116155"/>
                  </a:lnTo>
                  <a:lnTo>
                    <a:pt x="599963" y="156124"/>
                  </a:lnTo>
                  <a:lnTo>
                    <a:pt x="559994" y="148384"/>
                  </a:lnTo>
                  <a:close/>
                  <a:moveTo>
                    <a:pt x="647673" y="123895"/>
                  </a:moveTo>
                  <a:lnTo>
                    <a:pt x="687642" y="131636"/>
                  </a:lnTo>
                  <a:lnTo>
                    <a:pt x="679902" y="171605"/>
                  </a:lnTo>
                  <a:lnTo>
                    <a:pt x="639933" y="163864"/>
                  </a:lnTo>
                  <a:close/>
                  <a:moveTo>
                    <a:pt x="727611" y="139376"/>
                  </a:moveTo>
                  <a:lnTo>
                    <a:pt x="767580" y="147116"/>
                  </a:lnTo>
                  <a:lnTo>
                    <a:pt x="759840" y="187085"/>
                  </a:lnTo>
                  <a:lnTo>
                    <a:pt x="719870" y="179344"/>
                  </a:lnTo>
                  <a:close/>
                  <a:moveTo>
                    <a:pt x="807550" y="154857"/>
                  </a:moveTo>
                  <a:lnTo>
                    <a:pt x="847518" y="162597"/>
                  </a:lnTo>
                  <a:lnTo>
                    <a:pt x="839778" y="202566"/>
                  </a:lnTo>
                  <a:lnTo>
                    <a:pt x="799809" y="194826"/>
                  </a:lnTo>
                  <a:close/>
                  <a:moveTo>
                    <a:pt x="887487" y="170338"/>
                  </a:moveTo>
                  <a:lnTo>
                    <a:pt x="927457" y="178078"/>
                  </a:lnTo>
                  <a:lnTo>
                    <a:pt x="919716" y="218046"/>
                  </a:lnTo>
                  <a:lnTo>
                    <a:pt x="879747" y="210307"/>
                  </a:lnTo>
                  <a:close/>
                  <a:moveTo>
                    <a:pt x="967426" y="185818"/>
                  </a:moveTo>
                  <a:lnTo>
                    <a:pt x="1007395" y="193558"/>
                  </a:lnTo>
                  <a:lnTo>
                    <a:pt x="999655" y="233528"/>
                  </a:lnTo>
                  <a:lnTo>
                    <a:pt x="959685" y="225787"/>
                  </a:lnTo>
                  <a:close/>
                  <a:moveTo>
                    <a:pt x="1047363" y="201299"/>
                  </a:moveTo>
                  <a:lnTo>
                    <a:pt x="1087333" y="209039"/>
                  </a:lnTo>
                  <a:lnTo>
                    <a:pt x="1079592" y="249007"/>
                  </a:lnTo>
                  <a:lnTo>
                    <a:pt x="1039624" y="241268"/>
                  </a:lnTo>
                  <a:close/>
                  <a:moveTo>
                    <a:pt x="1127302" y="216779"/>
                  </a:moveTo>
                  <a:lnTo>
                    <a:pt x="1167272" y="224519"/>
                  </a:lnTo>
                  <a:lnTo>
                    <a:pt x="1159531" y="264489"/>
                  </a:lnTo>
                  <a:lnTo>
                    <a:pt x="1119562" y="256748"/>
                  </a:lnTo>
                  <a:close/>
                  <a:moveTo>
                    <a:pt x="1207241" y="232260"/>
                  </a:moveTo>
                  <a:lnTo>
                    <a:pt x="1247209" y="240001"/>
                  </a:lnTo>
                  <a:lnTo>
                    <a:pt x="1239470" y="279970"/>
                  </a:lnTo>
                  <a:lnTo>
                    <a:pt x="1199500" y="272229"/>
                  </a:lnTo>
                  <a:close/>
                  <a:moveTo>
                    <a:pt x="1287178" y="247741"/>
                  </a:moveTo>
                  <a:lnTo>
                    <a:pt x="1327148" y="255481"/>
                  </a:lnTo>
                  <a:lnTo>
                    <a:pt x="1319407" y="295450"/>
                  </a:lnTo>
                  <a:lnTo>
                    <a:pt x="1279438" y="287709"/>
                  </a:lnTo>
                  <a:close/>
                  <a:moveTo>
                    <a:pt x="1367121" y="263221"/>
                  </a:moveTo>
                  <a:lnTo>
                    <a:pt x="1407087" y="270962"/>
                  </a:lnTo>
                  <a:lnTo>
                    <a:pt x="1399351" y="310931"/>
                  </a:lnTo>
                  <a:lnTo>
                    <a:pt x="1359377" y="303191"/>
                  </a:lnTo>
                  <a:close/>
                  <a:moveTo>
                    <a:pt x="1447052" y="278703"/>
                  </a:moveTo>
                  <a:lnTo>
                    <a:pt x="1487031" y="286442"/>
                  </a:lnTo>
                  <a:lnTo>
                    <a:pt x="1479282" y="326411"/>
                  </a:lnTo>
                  <a:lnTo>
                    <a:pt x="1439317" y="318671"/>
                  </a:lnTo>
                  <a:close/>
                  <a:moveTo>
                    <a:pt x="1526996" y="294183"/>
                  </a:moveTo>
                  <a:lnTo>
                    <a:pt x="1566961" y="301923"/>
                  </a:lnTo>
                  <a:lnTo>
                    <a:pt x="1559226" y="341893"/>
                  </a:lnTo>
                  <a:lnTo>
                    <a:pt x="1519247" y="334152"/>
                  </a:lnTo>
                  <a:close/>
                  <a:moveTo>
                    <a:pt x="1606927" y="309664"/>
                  </a:moveTo>
                  <a:lnTo>
                    <a:pt x="1646906" y="317405"/>
                  </a:lnTo>
                  <a:lnTo>
                    <a:pt x="1639157" y="357373"/>
                  </a:lnTo>
                  <a:lnTo>
                    <a:pt x="1599192" y="349633"/>
                  </a:lnTo>
                  <a:close/>
                  <a:moveTo>
                    <a:pt x="1686871" y="325144"/>
                  </a:moveTo>
                  <a:lnTo>
                    <a:pt x="1726836" y="332884"/>
                  </a:lnTo>
                  <a:lnTo>
                    <a:pt x="1719101" y="372854"/>
                  </a:lnTo>
                  <a:lnTo>
                    <a:pt x="1679136" y="365113"/>
                  </a:lnTo>
                  <a:close/>
                  <a:moveTo>
                    <a:pt x="1766802" y="340625"/>
                  </a:moveTo>
                  <a:lnTo>
                    <a:pt x="1806780" y="348366"/>
                  </a:lnTo>
                  <a:lnTo>
                    <a:pt x="1799032" y="388334"/>
                  </a:lnTo>
                  <a:lnTo>
                    <a:pt x="1759066" y="380594"/>
                  </a:lnTo>
                  <a:close/>
                  <a:moveTo>
                    <a:pt x="1846746" y="356105"/>
                  </a:moveTo>
                  <a:lnTo>
                    <a:pt x="1886711" y="363846"/>
                  </a:lnTo>
                  <a:lnTo>
                    <a:pt x="1878976" y="403815"/>
                  </a:lnTo>
                  <a:lnTo>
                    <a:pt x="1839011" y="396074"/>
                  </a:lnTo>
                  <a:close/>
                  <a:moveTo>
                    <a:pt x="1926690" y="371586"/>
                  </a:moveTo>
                  <a:lnTo>
                    <a:pt x="1966655" y="379327"/>
                  </a:lnTo>
                  <a:lnTo>
                    <a:pt x="1958907" y="419296"/>
                  </a:lnTo>
                  <a:lnTo>
                    <a:pt x="1918941" y="411556"/>
                  </a:lnTo>
                  <a:close/>
                  <a:moveTo>
                    <a:pt x="2006621" y="387068"/>
                  </a:moveTo>
                  <a:lnTo>
                    <a:pt x="2046586" y="394807"/>
                  </a:lnTo>
                  <a:lnTo>
                    <a:pt x="2038851" y="434776"/>
                  </a:lnTo>
                  <a:lnTo>
                    <a:pt x="1998885" y="427036"/>
                  </a:lnTo>
                  <a:close/>
                  <a:moveTo>
                    <a:pt x="2086565" y="402548"/>
                  </a:moveTo>
                  <a:lnTo>
                    <a:pt x="2126530" y="410288"/>
                  </a:lnTo>
                  <a:lnTo>
                    <a:pt x="2118795" y="450258"/>
                  </a:lnTo>
                  <a:lnTo>
                    <a:pt x="2078816" y="442517"/>
                  </a:lnTo>
                  <a:close/>
                  <a:moveTo>
                    <a:pt x="2166496" y="418029"/>
                  </a:moveTo>
                  <a:lnTo>
                    <a:pt x="2206461" y="425768"/>
                  </a:lnTo>
                  <a:lnTo>
                    <a:pt x="2198726" y="465738"/>
                  </a:lnTo>
                  <a:lnTo>
                    <a:pt x="2158760" y="457997"/>
                  </a:lnTo>
                  <a:close/>
                  <a:moveTo>
                    <a:pt x="2246440" y="433509"/>
                  </a:moveTo>
                  <a:lnTo>
                    <a:pt x="2286405" y="441249"/>
                  </a:lnTo>
                  <a:lnTo>
                    <a:pt x="2278670" y="481219"/>
                  </a:lnTo>
                  <a:lnTo>
                    <a:pt x="2238691" y="473478"/>
                  </a:lnTo>
                  <a:close/>
                  <a:moveTo>
                    <a:pt x="2326370" y="448990"/>
                  </a:moveTo>
                  <a:lnTo>
                    <a:pt x="2366349" y="456731"/>
                  </a:lnTo>
                  <a:lnTo>
                    <a:pt x="2358600" y="496699"/>
                  </a:lnTo>
                  <a:lnTo>
                    <a:pt x="2318635" y="488959"/>
                  </a:lnTo>
                  <a:close/>
                  <a:moveTo>
                    <a:pt x="2406315" y="464470"/>
                  </a:moveTo>
                  <a:lnTo>
                    <a:pt x="2446280" y="472211"/>
                  </a:lnTo>
                  <a:lnTo>
                    <a:pt x="2438545" y="512180"/>
                  </a:lnTo>
                  <a:lnTo>
                    <a:pt x="2398580" y="504439"/>
                  </a:lnTo>
                  <a:close/>
                  <a:moveTo>
                    <a:pt x="2486245" y="479951"/>
                  </a:moveTo>
                  <a:lnTo>
                    <a:pt x="2526224" y="487692"/>
                  </a:lnTo>
                  <a:lnTo>
                    <a:pt x="2518475" y="527660"/>
                  </a:lnTo>
                  <a:lnTo>
                    <a:pt x="2478510" y="519921"/>
                  </a:lnTo>
                  <a:close/>
                  <a:moveTo>
                    <a:pt x="2566190" y="495431"/>
                  </a:moveTo>
                  <a:lnTo>
                    <a:pt x="2606155" y="503172"/>
                  </a:lnTo>
                  <a:lnTo>
                    <a:pt x="2598420" y="543141"/>
                  </a:lnTo>
                  <a:lnTo>
                    <a:pt x="2558454" y="535401"/>
                  </a:lnTo>
                  <a:close/>
                  <a:moveTo>
                    <a:pt x="2646134" y="510913"/>
                  </a:moveTo>
                  <a:lnTo>
                    <a:pt x="2653733" y="512385"/>
                  </a:lnTo>
                  <a:lnTo>
                    <a:pt x="2645998" y="552354"/>
                  </a:lnTo>
                  <a:lnTo>
                    <a:pt x="2638385" y="550882"/>
                  </a:lnTo>
                  <a:close/>
                  <a:moveTo>
                    <a:pt x="2641493" y="468547"/>
                  </a:moveTo>
                  <a:lnTo>
                    <a:pt x="2749786" y="551721"/>
                  </a:lnTo>
                  <a:lnTo>
                    <a:pt x="2618273" y="588453"/>
                  </a:lnTo>
                  <a:close/>
                </a:path>
              </a:pathLst>
            </a:custGeom>
            <a:solidFill>
              <a:srgbClr val="7F7F7F"/>
            </a:solidFill>
            <a:ln w="135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2" name="TextBox 1271">
              <a:extLst>
                <a:ext uri="{FF2B5EF4-FFF2-40B4-BE49-F238E27FC236}">
                  <a16:creationId xmlns:a16="http://schemas.microsoft.com/office/drawing/2014/main" id="{DFD9FD7B-215D-D948-B18E-D1579F6429E3}"/>
                </a:ext>
              </a:extLst>
            </p:cNvPr>
            <p:cNvSpPr txBox="1"/>
            <p:nvPr/>
          </p:nvSpPr>
          <p:spPr>
            <a:xfrm>
              <a:off x="23139653" y="27304817"/>
              <a:ext cx="2579873" cy="3266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523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Microfabricated curved mirror</a:t>
              </a:r>
            </a:p>
          </p:txBody>
        </p:sp>
        <p:pic>
          <p:nvPicPr>
            <p:cNvPr id="1273" name="Picture 1272">
              <a:extLst>
                <a:ext uri="{FF2B5EF4-FFF2-40B4-BE49-F238E27FC236}">
                  <a16:creationId xmlns:a16="http://schemas.microsoft.com/office/drawing/2014/main" id="{3AAE9BBC-DA24-CF37-AD75-C21B0AF83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848453" y="28558318"/>
              <a:ext cx="5876055" cy="719239"/>
            </a:xfrm>
            <a:custGeom>
              <a:avLst/>
              <a:gdLst>
                <a:gd name="connsiteX0" fmla="*/ -3 w 5876055"/>
                <a:gd name="connsiteY0" fmla="*/ 110 h 719239"/>
                <a:gd name="connsiteX1" fmla="*/ 5876053 w 5876055"/>
                <a:gd name="connsiteY1" fmla="*/ 110 h 719239"/>
                <a:gd name="connsiteX2" fmla="*/ 5876053 w 5876055"/>
                <a:gd name="connsiteY2" fmla="*/ 719350 h 719239"/>
                <a:gd name="connsiteX3" fmla="*/ -3 w 5876055"/>
                <a:gd name="connsiteY3" fmla="*/ 719350 h 71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6055" h="719239">
                  <a:moveTo>
                    <a:pt x="-3" y="110"/>
                  </a:moveTo>
                  <a:lnTo>
                    <a:pt x="5876053" y="110"/>
                  </a:lnTo>
                  <a:lnTo>
                    <a:pt x="5876053" y="719350"/>
                  </a:lnTo>
                  <a:lnTo>
                    <a:pt x="-3" y="719350"/>
                  </a:lnTo>
                  <a:close/>
                </a:path>
              </a:pathLst>
            </a:custGeom>
          </p:spPr>
        </p:pic>
      </p:grp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820452F0-7925-7628-0939-4A6DDAC15B2D}"/>
              </a:ext>
            </a:extLst>
          </p:cNvPr>
          <p:cNvSpPr/>
          <p:nvPr/>
        </p:nvSpPr>
        <p:spPr>
          <a:xfrm>
            <a:off x="7322598" y="29834507"/>
            <a:ext cx="2579873" cy="302645"/>
          </a:xfrm>
          <a:prstGeom prst="rect">
            <a:avLst/>
          </a:prstGeom>
          <a:noFill/>
          <a:ln w="57150">
            <a:solidFill>
              <a:srgbClr val="F5DB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F60A16A6-A04E-3924-8705-49127D749AC6}"/>
              </a:ext>
            </a:extLst>
          </p:cNvPr>
          <p:cNvSpPr/>
          <p:nvPr/>
        </p:nvSpPr>
        <p:spPr>
          <a:xfrm>
            <a:off x="913498" y="30263741"/>
            <a:ext cx="1914000" cy="681354"/>
          </a:xfrm>
          <a:prstGeom prst="rect">
            <a:avLst/>
          </a:prstGeom>
          <a:noFill/>
          <a:ln w="57150">
            <a:solidFill>
              <a:srgbClr val="AED6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" name="Rectangle 1275">
            <a:extLst>
              <a:ext uri="{FF2B5EF4-FFF2-40B4-BE49-F238E27FC236}">
                <a16:creationId xmlns:a16="http://schemas.microsoft.com/office/drawing/2014/main" id="{6D05A041-0419-F631-2AF0-57D42D6494BB}"/>
              </a:ext>
            </a:extLst>
          </p:cNvPr>
          <p:cNvSpPr/>
          <p:nvPr/>
        </p:nvSpPr>
        <p:spPr>
          <a:xfrm>
            <a:off x="7840790" y="32895904"/>
            <a:ext cx="1601714" cy="248153"/>
          </a:xfrm>
          <a:prstGeom prst="rect">
            <a:avLst/>
          </a:prstGeom>
          <a:noFill/>
          <a:ln w="57150">
            <a:solidFill>
              <a:srgbClr val="DDB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8" name="TextBox 1277">
            <a:extLst>
              <a:ext uri="{FF2B5EF4-FFF2-40B4-BE49-F238E27FC236}">
                <a16:creationId xmlns:a16="http://schemas.microsoft.com/office/drawing/2014/main" id="{947E5F45-BDBF-4C06-5F94-9A28A528A739}"/>
              </a:ext>
            </a:extLst>
          </p:cNvPr>
          <p:cNvSpPr txBox="1"/>
          <p:nvPr/>
        </p:nvSpPr>
        <p:spPr>
          <a:xfrm>
            <a:off x="7398662" y="28478691"/>
            <a:ext cx="58641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[1] </a:t>
            </a:r>
            <a:r>
              <a:rPr lang="en-US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Naijun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Jin, et. al., "Micro-fabricated mirrors with finesse exceeding one million," Optica 9, 965-970 (2022)</a:t>
            </a:r>
          </a:p>
        </p:txBody>
      </p:sp>
      <p:sp>
        <p:nvSpPr>
          <p:cNvPr id="1279" name="Rectangle 1278">
            <a:extLst>
              <a:ext uri="{FF2B5EF4-FFF2-40B4-BE49-F238E27FC236}">
                <a16:creationId xmlns:a16="http://schemas.microsoft.com/office/drawing/2014/main" id="{7D1F77B1-8025-7FE9-EFC1-B91A8F9B5E6E}"/>
              </a:ext>
            </a:extLst>
          </p:cNvPr>
          <p:cNvSpPr/>
          <p:nvPr/>
        </p:nvSpPr>
        <p:spPr>
          <a:xfrm>
            <a:off x="7928420" y="31006056"/>
            <a:ext cx="697891" cy="293856"/>
          </a:xfrm>
          <a:prstGeom prst="rect">
            <a:avLst/>
          </a:prstGeom>
          <a:noFill/>
          <a:ln w="571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7878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ndia 2018">
      <a:dk1>
        <a:srgbClr val="000000"/>
      </a:dk1>
      <a:lt1>
        <a:srgbClr val="FFFFFF"/>
      </a:lt1>
      <a:dk2>
        <a:srgbClr val="005376"/>
      </a:dk2>
      <a:lt2>
        <a:srgbClr val="E7E6E6"/>
      </a:lt2>
      <a:accent1>
        <a:srgbClr val="008E74"/>
      </a:accent1>
      <a:accent2>
        <a:srgbClr val="6CB312"/>
      </a:accent2>
      <a:accent3>
        <a:srgbClr val="FFA033"/>
      </a:accent3>
      <a:accent4>
        <a:srgbClr val="A92C00"/>
      </a:accent4>
      <a:accent5>
        <a:srgbClr val="7D0D7C"/>
      </a:accent5>
      <a:accent6>
        <a:srgbClr val="00ADD0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5AF5DE1E93E84491D5748D0D51443E" ma:contentTypeVersion="12" ma:contentTypeDescription="Create a new document." ma:contentTypeScope="" ma:versionID="fc16ae62c841c26c2b8a927728741f2a">
  <xsd:schema xmlns:xsd="http://www.w3.org/2001/XMLSchema" xmlns:xs="http://www.w3.org/2001/XMLSchema" xmlns:p="http://schemas.microsoft.com/office/2006/metadata/properties" xmlns:ns2="d247b6c8-8410-4424-b70f-ddd91e8d7dfd" targetNamespace="http://schemas.microsoft.com/office/2006/metadata/properties" ma:root="true" ma:fieldsID="720a41979fe91d33b8c1828a937c7efe" ns2:_="">
    <xsd:import namespace="d247b6c8-8410-4424-b70f-ddd91e8d7d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7b6c8-8410-4424-b70f-ddd91e8d7d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e9a0c85-7947-4de8-8007-231928f828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47b6c8-8410-4424-b70f-ddd91e8d7df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8A8F457-F284-489D-BE20-EC647DDD7F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BE382D-8493-4DEF-B323-5D27B5B739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47b6c8-8410-4424-b70f-ddd91e8d7d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ED0328-CAC2-4E86-9E60-BF743BBC559E}">
  <ds:schemaRefs>
    <ds:schemaRef ds:uri="http://www.w3.org/XML/1998/namespace"/>
    <ds:schemaRef ds:uri="d247b6c8-8410-4424-b70f-ddd91e8d7dfd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13224</TotalTime>
  <Words>497</Words>
  <Application>Microsoft Office PowerPoint</Application>
  <PresentationFormat>Custom</PresentationFormat>
  <Paragraphs>122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Integrated photonic waveguides on a &gt;99.99% reflectivity dielectric mirror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up to two lines – 88pt Gill Sans Title up to two lines – 88pt Gill Sans</dc:title>
  <dc:creator>Microsoft Office User</dc:creator>
  <cp:lastModifiedBy>Fischer, Alex</cp:lastModifiedBy>
  <cp:revision>49</cp:revision>
  <dcterms:created xsi:type="dcterms:W3CDTF">2017-11-21T18:42:46Z</dcterms:created>
  <dcterms:modified xsi:type="dcterms:W3CDTF">2026-08-23T16:12:31Z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0x0101004A5AF5DE1E93E84491D5748D0D51443E</vt:lpwstr>
  </property>
  <property fmtid="{D5CDD505-2E9C-101B-9397-08002B2CF9AE}" pid="3" name="MediaServiceImageTags">
    <vt:lpwstr/>
  </property>
</Properties>
</file>